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D97706"/>
          </a:solidFill>
          <a:ln/>
        </p:spPr>
      </p:sp>
      <p:sp>
        <p:nvSpPr>
          <p:cNvPr id="3" name="Shape 1"/>
          <p:cNvSpPr/>
          <p:nvPr/>
        </p:nvSpPr>
        <p:spPr>
          <a:xfrm>
            <a:off x="137160" y="5029200"/>
            <a:ext cx="9006840" cy="114300"/>
          </a:xfrm>
          <a:prstGeom prst="rect">
            <a:avLst/>
          </a:prstGeom>
          <a:solidFill>
            <a:srgbClr val="0D9488"/>
          </a:solidFill>
          <a:ln/>
        </p:spPr>
      </p:sp>
      <p:sp>
        <p:nvSpPr>
          <p:cNvPr id="4" name="Text 2"/>
          <p:cNvSpPr/>
          <p:nvPr/>
        </p:nvSpPr>
        <p:spPr>
          <a:xfrm>
            <a:off x="731520" y="1645920"/>
            <a:ext cx="7772400" cy="731520"/>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CONTRA VC FUND I</a:t>
            </a:r>
            <a:endParaRPr lang="en-US" sz="4400" dirty="0"/>
          </a:p>
        </p:txBody>
      </p:sp>
      <p:sp>
        <p:nvSpPr>
          <p:cNvPr id="5" name="Text 3"/>
          <p:cNvSpPr/>
          <p:nvPr/>
        </p:nvSpPr>
        <p:spPr>
          <a:xfrm>
            <a:off x="731520" y="2468880"/>
            <a:ext cx="7772400" cy="457200"/>
          </a:xfrm>
          <a:prstGeom prst="rect">
            <a:avLst/>
          </a:prstGeom>
          <a:noFill/>
          <a:ln/>
        </p:spPr>
        <p:txBody>
          <a:bodyPr wrap="square" rtlCol="0" anchor="ctr"/>
          <a:lstStyle/>
          <a:p>
            <a:pPr indent="0" marL="0">
              <a:buNone/>
            </a:pPr>
            <a:r>
              <a:rPr lang="en-US" sz="1800" dirty="0">
                <a:solidFill>
                  <a:srgbClr val="2DD4BF"/>
                </a:solidFill>
                <a:latin typeface="Calibri" pitchFamily="34" charset="0"/>
                <a:ea typeface="Calibri" pitchFamily="34" charset="-122"/>
                <a:cs typeface="Calibri" pitchFamily="34" charset="-120"/>
              </a:rPr>
              <a:t>The AI-Native Capital-Network Operating System for Frontier Alpha</a:t>
            </a:r>
            <a:endParaRPr lang="en-US" sz="1800" dirty="0"/>
          </a:p>
        </p:txBody>
      </p:sp>
      <p:sp>
        <p:nvSpPr>
          <p:cNvPr id="6" name="Text 4"/>
          <p:cNvSpPr/>
          <p:nvPr/>
        </p:nvSpPr>
        <p:spPr>
          <a:xfrm>
            <a:off x="731520" y="4114800"/>
            <a:ext cx="7772400" cy="274320"/>
          </a:xfrm>
          <a:prstGeom prst="rect">
            <a:avLst/>
          </a:prstGeom>
          <a:noFill/>
          <a:ln/>
        </p:spPr>
        <p:txBody>
          <a:bodyPr wrap="square" rtlCol="0" anchor="ctr"/>
          <a:lstStyle/>
          <a:p>
            <a:pPr indent="0" marL="0">
              <a:buNone/>
            </a:pPr>
            <a:r>
              <a:rPr lang="en-US" sz="1000" b="1" dirty="0">
                <a:solidFill>
                  <a:srgbClr val="94A3B8"/>
                </a:solidFill>
                <a:latin typeface="Calibri" pitchFamily="34" charset="0"/>
                <a:ea typeface="Calibri" pitchFamily="34" charset="-122"/>
                <a:cs typeface="Calibri" pitchFamily="34" charset="-120"/>
              </a:rPr>
              <a:t>INSTITUTIONAL STRATEGIC BRIEFING &amp; REGULATORY ARCHITECTURE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EXECUTIVE SUMMARY: THE INSTITUTIONAL MACHINE</a:t>
            </a:r>
            <a:endParaRPr lang="en-US" sz="2400" dirty="0"/>
          </a:p>
        </p:txBody>
      </p:sp>
      <p:sp>
        <p:nvSpPr>
          <p:cNvPr id="3" name="Shape 1"/>
          <p:cNvSpPr/>
          <p:nvPr/>
        </p:nvSpPr>
        <p:spPr>
          <a:xfrm>
            <a:off x="457200" y="822960"/>
            <a:ext cx="1371600" cy="36576"/>
          </a:xfrm>
          <a:prstGeom prst="rect">
            <a:avLst/>
          </a:prstGeom>
          <a:solidFill>
            <a:srgbClr val="D97706"/>
          </a:solidFill>
          <a:ln/>
        </p:spPr>
      </p:sp>
      <p:sp>
        <p:nvSpPr>
          <p:cNvPr id="4" name="Text 2"/>
          <p:cNvSpPr/>
          <p:nvPr/>
        </p:nvSpPr>
        <p:spPr>
          <a:xfrm>
            <a:off x="457200" y="1005840"/>
            <a:ext cx="8229600" cy="640080"/>
          </a:xfrm>
          <a:prstGeom prst="rect">
            <a:avLst/>
          </a:prstGeom>
          <a:noFill/>
          <a:ln/>
        </p:spPr>
        <p:txBody>
          <a:bodyPr wrap="square" rtlCol="0" anchor="ctr"/>
          <a:lstStyle/>
          <a:p>
            <a:pPr indent="0" marL="0">
              <a:buNone/>
            </a:pPr>
            <a:r>
              <a:rPr lang="en-US" sz="1500" i="1" dirty="0">
                <a:solidFill>
                  <a:srgbClr val="F8FAFC"/>
                </a:solidFill>
                <a:latin typeface="Calibri" pitchFamily="34" charset="0"/>
                <a:ea typeface="Calibri" pitchFamily="34" charset="-122"/>
                <a:cs typeface="Calibri" pitchFamily="34" charset="-120"/>
              </a:rPr>
              <a:t>Contra VC (evolving from the MyAsiaVC syndicate) is a complete restructuring of a venture firm into an AI-native operating system designed to run an institutional fund with absolute cross-border data leverage.</a:t>
            </a:r>
            <a:endParaRPr lang="en-US" sz="1500" dirty="0"/>
          </a:p>
        </p:txBody>
      </p:sp>
      <p:sp>
        <p:nvSpPr>
          <p:cNvPr id="5" name="Shape 3"/>
          <p:cNvSpPr/>
          <p:nvPr/>
        </p:nvSpPr>
        <p:spPr>
          <a:xfrm>
            <a:off x="457200" y="2011680"/>
            <a:ext cx="2560320" cy="2286000"/>
          </a:xfrm>
          <a:prstGeom prst="rect">
            <a:avLst/>
          </a:prstGeom>
          <a:solidFill>
            <a:srgbClr val="1E293B"/>
          </a:solidFill>
          <a:ln/>
          <a:effectLst>
            <a:outerShdw sx="100000" sy="100000" kx="0" ky="0" algn="bl" rotWithShape="0" blurRad="50800" dist="25400" dir="2700000">
              <a:srgbClr val="000000">
                <a:alpha val="15000"/>
              </a:srgbClr>
            </a:outerShdw>
          </a:effectLst>
        </p:spPr>
      </p:sp>
      <p:sp>
        <p:nvSpPr>
          <p:cNvPr id="6" name="Shape 4"/>
          <p:cNvSpPr/>
          <p:nvPr/>
        </p:nvSpPr>
        <p:spPr>
          <a:xfrm>
            <a:off x="457200" y="2011680"/>
            <a:ext cx="2560320" cy="54864"/>
          </a:xfrm>
          <a:prstGeom prst="rect">
            <a:avLst/>
          </a:prstGeom>
          <a:solidFill>
            <a:srgbClr val="0D9488"/>
          </a:solidFill>
          <a:ln/>
        </p:spPr>
      </p:sp>
      <p:sp>
        <p:nvSpPr>
          <p:cNvPr id="7" name="Text 5"/>
          <p:cNvSpPr/>
          <p:nvPr/>
        </p:nvSpPr>
        <p:spPr>
          <a:xfrm>
            <a:off x="640080" y="2194560"/>
            <a:ext cx="2194560" cy="274320"/>
          </a:xfrm>
          <a:prstGeom prst="rect">
            <a:avLst/>
          </a:prstGeom>
          <a:noFill/>
          <a:ln/>
        </p:spPr>
        <p:txBody>
          <a:bodyPr wrap="square" rtlCol="0" anchor="ctr"/>
          <a:lstStyle/>
          <a:p>
            <a:pPr indent="0" marL="0">
              <a:buNone/>
            </a:pPr>
            <a:r>
              <a:rPr lang="en-US" sz="2000" b="1" dirty="0">
                <a:solidFill>
                  <a:srgbClr val="2DD4BF"/>
                </a:solidFill>
                <a:latin typeface="Calibri" pitchFamily="34" charset="0"/>
                <a:ea typeface="Calibri" pitchFamily="34" charset="-122"/>
                <a:cs typeface="Calibri" pitchFamily="34" charset="-120"/>
              </a:rPr>
              <a:t>01</a:t>
            </a:r>
            <a:endParaRPr lang="en-US" sz="2000" dirty="0"/>
          </a:p>
        </p:txBody>
      </p:sp>
      <p:sp>
        <p:nvSpPr>
          <p:cNvPr id="8" name="Text 6"/>
          <p:cNvSpPr/>
          <p:nvPr/>
        </p:nvSpPr>
        <p:spPr>
          <a:xfrm>
            <a:off x="640080" y="2560320"/>
            <a:ext cx="2194560" cy="27432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Systematic Intelligence</a:t>
            </a:r>
            <a:endParaRPr lang="en-US" sz="1400" dirty="0"/>
          </a:p>
        </p:txBody>
      </p:sp>
      <p:sp>
        <p:nvSpPr>
          <p:cNvPr id="9" name="Text 7"/>
          <p:cNvSpPr/>
          <p:nvPr/>
        </p:nvSpPr>
        <p:spPr>
          <a:xfrm>
            <a:off x="640080" y="2926080"/>
            <a:ext cx="2194560" cy="1097280"/>
          </a:xfrm>
          <a:prstGeom prst="rect">
            <a:avLst/>
          </a:prstGeom>
          <a:noFill/>
          <a:ln/>
        </p:spPr>
        <p:txBody>
          <a:bodyPr wrap="square" rtlCol="0" anchor="ctr"/>
          <a:lstStyle/>
          <a:p>
            <a:pPr indent="0" marL="0">
              <a:lnSpc>
                <a:spcPct val="120000"/>
              </a:lnSpc>
              <a:buNone/>
            </a:pPr>
            <a:r>
              <a:rPr lang="en-US" sz="1100" dirty="0">
                <a:solidFill>
                  <a:srgbClr val="F8FAFC"/>
                </a:solidFill>
                <a:latin typeface="Calibri" pitchFamily="34" charset="0"/>
                <a:ea typeface="Calibri" pitchFamily="34" charset="-122"/>
                <a:cs typeface="Calibri" pitchFamily="34" charset="-120"/>
              </a:rPr>
              <a:t>Moving away from opportunistic deal-by-deal pitching to an institutional model of systematic capital-network intelligence.</a:t>
            </a:r>
            <a:endParaRPr lang="en-US" sz="1100" dirty="0"/>
          </a:p>
        </p:txBody>
      </p:sp>
      <p:sp>
        <p:nvSpPr>
          <p:cNvPr id="10" name="Shape 8"/>
          <p:cNvSpPr/>
          <p:nvPr/>
        </p:nvSpPr>
        <p:spPr>
          <a:xfrm>
            <a:off x="3291840" y="2011680"/>
            <a:ext cx="2560320" cy="2286000"/>
          </a:xfrm>
          <a:prstGeom prst="rect">
            <a:avLst/>
          </a:prstGeom>
          <a:solidFill>
            <a:srgbClr val="1E293B"/>
          </a:solidFill>
          <a:ln/>
          <a:effectLst>
            <a:outerShdw sx="100000" sy="100000" kx="0" ky="0" algn="bl" rotWithShape="0" blurRad="50800" dist="25400" dir="2700000">
              <a:srgbClr val="000000">
                <a:alpha val="15000"/>
              </a:srgbClr>
            </a:outerShdw>
          </a:effectLst>
        </p:spPr>
      </p:sp>
      <p:sp>
        <p:nvSpPr>
          <p:cNvPr id="11" name="Shape 9"/>
          <p:cNvSpPr/>
          <p:nvPr/>
        </p:nvSpPr>
        <p:spPr>
          <a:xfrm>
            <a:off x="3291840" y="2011680"/>
            <a:ext cx="2560320" cy="54864"/>
          </a:xfrm>
          <a:prstGeom prst="rect">
            <a:avLst/>
          </a:prstGeom>
          <a:solidFill>
            <a:srgbClr val="0D9488"/>
          </a:solidFill>
          <a:ln/>
        </p:spPr>
      </p:sp>
      <p:sp>
        <p:nvSpPr>
          <p:cNvPr id="12" name="Text 10"/>
          <p:cNvSpPr/>
          <p:nvPr/>
        </p:nvSpPr>
        <p:spPr>
          <a:xfrm>
            <a:off x="3474720" y="2194560"/>
            <a:ext cx="2194560" cy="274320"/>
          </a:xfrm>
          <a:prstGeom prst="rect">
            <a:avLst/>
          </a:prstGeom>
          <a:noFill/>
          <a:ln/>
        </p:spPr>
        <p:txBody>
          <a:bodyPr wrap="square" rtlCol="0" anchor="ctr"/>
          <a:lstStyle/>
          <a:p>
            <a:pPr indent="0" marL="0">
              <a:buNone/>
            </a:pPr>
            <a:r>
              <a:rPr lang="en-US" sz="2000" b="1" dirty="0">
                <a:solidFill>
                  <a:srgbClr val="2DD4BF"/>
                </a:solidFill>
                <a:latin typeface="Calibri" pitchFamily="34" charset="0"/>
                <a:ea typeface="Calibri" pitchFamily="34" charset="-122"/>
                <a:cs typeface="Calibri" pitchFamily="34" charset="-120"/>
              </a:rPr>
              <a:t>02</a:t>
            </a:r>
            <a:endParaRPr lang="en-US" sz="2000" dirty="0"/>
          </a:p>
        </p:txBody>
      </p:sp>
      <p:sp>
        <p:nvSpPr>
          <p:cNvPr id="13" name="Text 11"/>
          <p:cNvSpPr/>
          <p:nvPr/>
        </p:nvSpPr>
        <p:spPr>
          <a:xfrm>
            <a:off x="3474720" y="2560320"/>
            <a:ext cx="2194560" cy="27432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Targeted Alpha Channels</a:t>
            </a:r>
            <a:endParaRPr lang="en-US" sz="1400" dirty="0"/>
          </a:p>
        </p:txBody>
      </p:sp>
      <p:sp>
        <p:nvSpPr>
          <p:cNvPr id="14" name="Text 12"/>
          <p:cNvSpPr/>
          <p:nvPr/>
        </p:nvSpPr>
        <p:spPr>
          <a:xfrm>
            <a:off x="3474720" y="2926080"/>
            <a:ext cx="2194560" cy="1097280"/>
          </a:xfrm>
          <a:prstGeom prst="rect">
            <a:avLst/>
          </a:prstGeom>
          <a:noFill/>
          <a:ln/>
        </p:spPr>
        <p:txBody>
          <a:bodyPr wrap="square" rtlCol="0" anchor="ctr"/>
          <a:lstStyle/>
          <a:p>
            <a:pPr indent="0" marL="0">
              <a:lnSpc>
                <a:spcPct val="120000"/>
              </a:lnSpc>
              <a:buNone/>
            </a:pPr>
            <a:r>
              <a:rPr lang="en-US" sz="1100" dirty="0">
                <a:solidFill>
                  <a:srgbClr val="F8FAFC"/>
                </a:solidFill>
                <a:latin typeface="Calibri" pitchFamily="34" charset="0"/>
                <a:ea typeface="Calibri" pitchFamily="34" charset="-122"/>
                <a:cs typeface="Calibri" pitchFamily="34" charset="-120"/>
              </a:rPr>
              <a:t>Transitioning from unstructured high-net-worth angel networks to mid-market listed corporations with strict alignment.</a:t>
            </a:r>
            <a:endParaRPr lang="en-US" sz="1100" dirty="0"/>
          </a:p>
        </p:txBody>
      </p:sp>
      <p:sp>
        <p:nvSpPr>
          <p:cNvPr id="15" name="Shape 13"/>
          <p:cNvSpPr/>
          <p:nvPr/>
        </p:nvSpPr>
        <p:spPr>
          <a:xfrm>
            <a:off x="6126480" y="2011680"/>
            <a:ext cx="2560320" cy="2286000"/>
          </a:xfrm>
          <a:prstGeom prst="rect">
            <a:avLst/>
          </a:prstGeom>
          <a:solidFill>
            <a:srgbClr val="1E293B"/>
          </a:solidFill>
          <a:ln/>
          <a:effectLst>
            <a:outerShdw sx="100000" sy="100000" kx="0" ky="0" algn="bl" rotWithShape="0" blurRad="50800" dist="25400" dir="2700000">
              <a:srgbClr val="000000">
                <a:alpha val="15000"/>
              </a:srgbClr>
            </a:outerShdw>
          </a:effectLst>
        </p:spPr>
      </p:sp>
      <p:sp>
        <p:nvSpPr>
          <p:cNvPr id="16" name="Shape 14"/>
          <p:cNvSpPr/>
          <p:nvPr/>
        </p:nvSpPr>
        <p:spPr>
          <a:xfrm>
            <a:off x="6126480" y="2011680"/>
            <a:ext cx="2560320" cy="54864"/>
          </a:xfrm>
          <a:prstGeom prst="rect">
            <a:avLst/>
          </a:prstGeom>
          <a:solidFill>
            <a:srgbClr val="0D9488"/>
          </a:solidFill>
          <a:ln/>
        </p:spPr>
      </p:sp>
      <p:sp>
        <p:nvSpPr>
          <p:cNvPr id="17" name="Text 15"/>
          <p:cNvSpPr/>
          <p:nvPr/>
        </p:nvSpPr>
        <p:spPr>
          <a:xfrm>
            <a:off x="6309360" y="2194560"/>
            <a:ext cx="2194560" cy="274320"/>
          </a:xfrm>
          <a:prstGeom prst="rect">
            <a:avLst/>
          </a:prstGeom>
          <a:noFill/>
          <a:ln/>
        </p:spPr>
        <p:txBody>
          <a:bodyPr wrap="square" rtlCol="0" anchor="ctr"/>
          <a:lstStyle/>
          <a:p>
            <a:pPr indent="0" marL="0">
              <a:buNone/>
            </a:pPr>
            <a:r>
              <a:rPr lang="en-US" sz="2000" b="1" dirty="0">
                <a:solidFill>
                  <a:srgbClr val="2DD4BF"/>
                </a:solidFill>
                <a:latin typeface="Calibri" pitchFamily="34" charset="0"/>
                <a:ea typeface="Calibri" pitchFamily="34" charset="-122"/>
                <a:cs typeface="Calibri" pitchFamily="34" charset="-120"/>
              </a:rPr>
              <a:t>03</a:t>
            </a:r>
            <a:endParaRPr lang="en-US" sz="2000" dirty="0"/>
          </a:p>
        </p:txBody>
      </p:sp>
      <p:sp>
        <p:nvSpPr>
          <p:cNvPr id="18" name="Text 16"/>
          <p:cNvSpPr/>
          <p:nvPr/>
        </p:nvSpPr>
        <p:spPr>
          <a:xfrm>
            <a:off x="6309360" y="2560320"/>
            <a:ext cx="2194560" cy="27432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Risk-Verified Protocols</a:t>
            </a:r>
            <a:endParaRPr lang="en-US" sz="1400" dirty="0"/>
          </a:p>
        </p:txBody>
      </p:sp>
      <p:sp>
        <p:nvSpPr>
          <p:cNvPr id="19" name="Text 17"/>
          <p:cNvSpPr/>
          <p:nvPr/>
        </p:nvSpPr>
        <p:spPr>
          <a:xfrm>
            <a:off x="6309360" y="2926080"/>
            <a:ext cx="2194560" cy="1097280"/>
          </a:xfrm>
          <a:prstGeom prst="rect">
            <a:avLst/>
          </a:prstGeom>
          <a:noFill/>
          <a:ln/>
        </p:spPr>
        <p:txBody>
          <a:bodyPr wrap="square" rtlCol="0" anchor="ctr"/>
          <a:lstStyle/>
          <a:p>
            <a:pPr indent="0" marL="0">
              <a:lnSpc>
                <a:spcPct val="120000"/>
              </a:lnSpc>
              <a:buNone/>
            </a:pPr>
            <a:r>
              <a:rPr lang="en-US" sz="1100" dirty="0">
                <a:solidFill>
                  <a:srgbClr val="F8FAFC"/>
                </a:solidFill>
                <a:latin typeface="Calibri" pitchFamily="34" charset="0"/>
                <a:ea typeface="Calibri" pitchFamily="34" charset="-122"/>
                <a:cs typeface="Calibri" pitchFamily="34" charset="-120"/>
              </a:rPr>
              <a:t>Replacing individual human partner bias with automated data verification and structural network checks.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THE MACRO THESIS: DIGITAL INFRASTRUCTURE SHIFTS</a:t>
            </a:r>
            <a:endParaRPr lang="en-US" sz="2400" dirty="0"/>
          </a:p>
        </p:txBody>
      </p:sp>
      <p:sp>
        <p:nvSpPr>
          <p:cNvPr id="3" name="Shape 1"/>
          <p:cNvSpPr/>
          <p:nvPr/>
        </p:nvSpPr>
        <p:spPr>
          <a:xfrm>
            <a:off x="457200" y="822960"/>
            <a:ext cx="1371600" cy="36576"/>
          </a:xfrm>
          <a:prstGeom prst="rect">
            <a:avLst/>
          </a:prstGeom>
          <a:solidFill>
            <a:srgbClr val="D97706"/>
          </a:solidFill>
          <a:ln/>
        </p:spPr>
      </p:sp>
      <p:sp>
        <p:nvSpPr>
          <p:cNvPr id="4" name="Text 2"/>
          <p:cNvSpPr/>
          <p:nvPr/>
        </p:nvSpPr>
        <p:spPr>
          <a:xfrm>
            <a:off x="457200" y="1097280"/>
            <a:ext cx="8229600" cy="365760"/>
          </a:xfrm>
          <a:prstGeom prst="rect">
            <a:avLst/>
          </a:prstGeom>
          <a:noFill/>
          <a:ln/>
        </p:spPr>
        <p:txBody>
          <a:bodyPr wrap="square" rtlCol="0" anchor="ctr"/>
          <a:lstStyle/>
          <a:p>
            <a:pPr indent="0" marL="0">
              <a:buNone/>
            </a:pPr>
            <a:r>
              <a:rPr lang="en-US" sz="1400" dirty="0">
                <a:solidFill>
                  <a:srgbClr val="94A3B8"/>
                </a:solidFill>
                <a:latin typeface="Calibri" pitchFamily="34" charset="0"/>
                <a:ea typeface="Calibri" pitchFamily="34" charset="-122"/>
                <a:cs typeface="Calibri" pitchFamily="34" charset="-120"/>
              </a:rPr>
              <a:t>How capital, software, and enterprise business models will structurally transform over the next decade:</a:t>
            </a:r>
            <a:endParaRPr lang="en-US" sz="1400" dirty="0"/>
          </a:p>
        </p:txBody>
      </p:sp>
      <p:sp>
        <p:nvSpPr>
          <p:cNvPr id="5" name="Shape 3"/>
          <p:cNvSpPr/>
          <p:nvPr/>
        </p:nvSpPr>
        <p:spPr>
          <a:xfrm>
            <a:off x="457200" y="1600200"/>
            <a:ext cx="137160" cy="137160"/>
          </a:xfrm>
          <a:prstGeom prst="rect">
            <a:avLst/>
          </a:prstGeom>
          <a:solidFill>
            <a:srgbClr val="D97706"/>
          </a:solidFill>
          <a:ln/>
        </p:spPr>
      </p:sp>
      <p:sp>
        <p:nvSpPr>
          <p:cNvPr id="6" name="Text 4"/>
          <p:cNvSpPr/>
          <p:nvPr/>
        </p:nvSpPr>
        <p:spPr>
          <a:xfrm>
            <a:off x="731520" y="1554480"/>
            <a:ext cx="7955280" cy="914400"/>
          </a:xfrm>
          <a:prstGeom prst="rect">
            <a:avLst/>
          </a:prstGeom>
          <a:noFill/>
          <a:ln/>
        </p:spPr>
        <p:txBody>
          <a:bodyPr wrap="square" rtlCol="0" anchor="ctr"/>
          <a:lstStyle/>
          <a:p>
            <a:pPr indent="0" marL="0">
              <a:lnSpc>
                <a:spcPct val="120000"/>
              </a:lnSpc>
              <a:buNone/>
            </a:pPr>
            <a:r>
              <a:rPr lang="en-US" sz="1300" dirty="0">
                <a:solidFill>
                  <a:srgbClr val="F8FAFC"/>
                </a:solidFill>
                <a:latin typeface="Calibri" pitchFamily="34" charset="0"/>
                <a:ea typeface="Calibri" pitchFamily="34" charset="-122"/>
                <a:cs typeface="Calibri" pitchFamily="34" charset="-120"/>
              </a:rPr>
              <a:t>Borderless Capital Infrastructure: Global liquidity is shifting rapidly via stablecoins and borderless protocols. Back-end banking infrastructure will fundamentally change, making global capital movement friction-free.</a:t>
            </a:r>
            <a:endParaRPr lang="en-US" sz="1300" dirty="0"/>
          </a:p>
        </p:txBody>
      </p:sp>
      <p:sp>
        <p:nvSpPr>
          <p:cNvPr id="7" name="Shape 5"/>
          <p:cNvSpPr/>
          <p:nvPr/>
        </p:nvSpPr>
        <p:spPr>
          <a:xfrm>
            <a:off x="457200" y="2642616"/>
            <a:ext cx="137160" cy="137160"/>
          </a:xfrm>
          <a:prstGeom prst="rect">
            <a:avLst/>
          </a:prstGeom>
          <a:solidFill>
            <a:srgbClr val="D97706"/>
          </a:solidFill>
          <a:ln/>
        </p:spPr>
      </p:sp>
      <p:sp>
        <p:nvSpPr>
          <p:cNvPr id="8" name="Text 6"/>
          <p:cNvSpPr/>
          <p:nvPr/>
        </p:nvSpPr>
        <p:spPr>
          <a:xfrm>
            <a:off x="731520" y="2596896"/>
            <a:ext cx="7955280" cy="914400"/>
          </a:xfrm>
          <a:prstGeom prst="rect">
            <a:avLst/>
          </a:prstGeom>
          <a:noFill/>
          <a:ln/>
        </p:spPr>
        <p:txBody>
          <a:bodyPr wrap="square" rtlCol="0" anchor="ctr"/>
          <a:lstStyle/>
          <a:p>
            <a:pPr indent="0" marL="0">
              <a:lnSpc>
                <a:spcPct val="120000"/>
              </a:lnSpc>
              <a:buNone/>
            </a:pPr>
            <a:r>
              <a:rPr lang="en-US" sz="1300" dirty="0">
                <a:solidFill>
                  <a:srgbClr val="F8FAFC"/>
                </a:solidFill>
                <a:latin typeface="Calibri" pitchFamily="34" charset="0"/>
                <a:ea typeface="Calibri" pitchFamily="34" charset="-122"/>
                <a:cs typeface="Calibri" pitchFamily="34" charset="-120"/>
              </a:rPr>
              <a:t>Destruction of the BPO / Service Layer: AI and automated infrastructure are dismantling the legacy services layer. Software enterprises are becoming hyper-capital-efficient, enabling lean teams to reach massive scale with minimal burn.</a:t>
            </a:r>
            <a:endParaRPr lang="en-US" sz="1300" dirty="0"/>
          </a:p>
        </p:txBody>
      </p:sp>
      <p:sp>
        <p:nvSpPr>
          <p:cNvPr id="9" name="Shape 7"/>
          <p:cNvSpPr/>
          <p:nvPr/>
        </p:nvSpPr>
        <p:spPr>
          <a:xfrm>
            <a:off x="457200" y="3685032"/>
            <a:ext cx="137160" cy="137160"/>
          </a:xfrm>
          <a:prstGeom prst="rect">
            <a:avLst/>
          </a:prstGeom>
          <a:solidFill>
            <a:srgbClr val="D97706"/>
          </a:solidFill>
          <a:ln/>
        </p:spPr>
      </p:sp>
      <p:sp>
        <p:nvSpPr>
          <p:cNvPr id="10" name="Text 8"/>
          <p:cNvSpPr/>
          <p:nvPr/>
        </p:nvSpPr>
        <p:spPr>
          <a:xfrm>
            <a:off x="731520" y="3639312"/>
            <a:ext cx="7955280" cy="914400"/>
          </a:xfrm>
          <a:prstGeom prst="rect">
            <a:avLst/>
          </a:prstGeom>
          <a:noFill/>
          <a:ln/>
        </p:spPr>
        <p:txBody>
          <a:bodyPr wrap="square" rtlCol="0" anchor="ctr"/>
          <a:lstStyle/>
          <a:p>
            <a:pPr indent="0" marL="0">
              <a:lnSpc>
                <a:spcPct val="120000"/>
              </a:lnSpc>
              <a:buNone/>
            </a:pPr>
            <a:r>
              <a:rPr lang="en-US" sz="1300" dirty="0">
                <a:solidFill>
                  <a:srgbClr val="F8FAFC"/>
                </a:solidFill>
                <a:latin typeface="Calibri" pitchFamily="34" charset="0"/>
                <a:ea typeface="Calibri" pitchFamily="34" charset="-122"/>
                <a:cs typeface="Calibri" pitchFamily="34" charset="-120"/>
              </a:rPr>
              <a:t>The US-Asia Technology Wave: A massive wave of engineering talent is driving core technical breakthroughs outside traditional hubs, specifically connecting execution corridors in Singapore, India, Korea, and Japan.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ELIMINATING INDIVIDUAL INVESTMENT BIAS</a:t>
            </a:r>
            <a:endParaRPr lang="en-US" sz="2400" dirty="0"/>
          </a:p>
        </p:txBody>
      </p:sp>
      <p:sp>
        <p:nvSpPr>
          <p:cNvPr id="3" name="Shape 1"/>
          <p:cNvSpPr/>
          <p:nvPr/>
        </p:nvSpPr>
        <p:spPr>
          <a:xfrm>
            <a:off x="457200" y="822960"/>
            <a:ext cx="1371600" cy="36576"/>
          </a:xfrm>
          <a:prstGeom prst="rect">
            <a:avLst/>
          </a:prstGeom>
          <a:solidFill>
            <a:srgbClr val="D97706"/>
          </a:solidFill>
          <a:ln/>
        </p:spPr>
      </p:sp>
      <p:sp>
        <p:nvSpPr>
          <p:cNvPr id="4" name="Shape 2"/>
          <p:cNvSpPr/>
          <p:nvPr/>
        </p:nvSpPr>
        <p:spPr>
          <a:xfrm>
            <a:off x="457200" y="1371600"/>
            <a:ext cx="3931920" cy="3108960"/>
          </a:xfrm>
          <a:prstGeom prst="rect">
            <a:avLst/>
          </a:prstGeom>
          <a:solidFill>
            <a:srgbClr val="1E293B"/>
          </a:solidFill>
          <a:ln/>
          <a:effectLst>
            <a:outerShdw sx="100000" sy="100000" kx="0" ky="0" algn="bl" rotWithShape="0" blurRad="50800" dist="25400" dir="2700000">
              <a:srgbClr val="000000">
                <a:alpha val="15000"/>
              </a:srgbClr>
            </a:outerShdw>
          </a:effectLst>
        </p:spPr>
      </p:sp>
      <p:sp>
        <p:nvSpPr>
          <p:cNvPr id="5" name="Shape 3"/>
          <p:cNvSpPr/>
          <p:nvPr/>
        </p:nvSpPr>
        <p:spPr>
          <a:xfrm>
            <a:off x="457200" y="1371600"/>
            <a:ext cx="3931920" cy="54864"/>
          </a:xfrm>
          <a:prstGeom prst="rect">
            <a:avLst/>
          </a:prstGeom>
          <a:solidFill>
            <a:srgbClr val="D97706"/>
          </a:solidFill>
          <a:ln/>
        </p:spPr>
      </p:sp>
      <p:sp>
        <p:nvSpPr>
          <p:cNvPr id="6" name="Text 4"/>
          <p:cNvSpPr/>
          <p:nvPr/>
        </p:nvSpPr>
        <p:spPr>
          <a:xfrm>
            <a:off x="731520" y="1645920"/>
            <a:ext cx="3383280" cy="27432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THE LEGACY VC SHORTCOMING</a:t>
            </a:r>
            <a:endParaRPr lang="en-US" sz="1600" dirty="0"/>
          </a:p>
        </p:txBody>
      </p:sp>
      <p:sp>
        <p:nvSpPr>
          <p:cNvPr id="7" name="Text 5"/>
          <p:cNvSpPr/>
          <p:nvPr/>
        </p:nvSpPr>
        <p:spPr>
          <a:xfrm>
            <a:off x="731520" y="2103120"/>
            <a:ext cx="3383280" cy="2011680"/>
          </a:xfrm>
          <a:prstGeom prst="rect">
            <a:avLst/>
          </a:prstGeom>
          <a:noFill/>
          <a:ln/>
        </p:spPr>
        <p:txBody>
          <a:bodyPr wrap="square" rtlCol="0" anchor="ctr"/>
          <a:lstStyle/>
          <a:p>
            <a:pPr indent="0" marL="0">
              <a:lnSpc>
                <a:spcPct val="130000"/>
              </a:lnSpc>
              <a:buNone/>
            </a:pPr>
            <a:r>
              <a:rPr lang="en-US" sz="1200" dirty="0">
                <a:solidFill>
                  <a:srgbClr val="F8FAFC"/>
                </a:solidFill>
                <a:latin typeface="Calibri" pitchFamily="34" charset="0"/>
                <a:ea typeface="Calibri" pitchFamily="34" charset="-122"/>
                <a:cs typeface="Calibri" pitchFamily="34" charset="-120"/>
              </a:rPr>
              <a:t>• Heavy reliance on subjective partner memory and anecdotal gut-feeling.</a:t>
            </a:r>
            <a:endParaRPr lang="en-US" sz="1200" dirty="0"/>
          </a:p>
          <a:p>
            <a:pPr indent="0" marL="0">
              <a:lnSpc>
                <a:spcPct val="130000"/>
              </a:lnSpc>
              <a:buNone/>
            </a:pPr>
            <a:r>
              <a:rPr lang="en-US" sz="1200" dirty="0">
                <a:solidFill>
                  <a:srgbClr val="F8FAFC"/>
                </a:solidFill>
                <a:latin typeface="Calibri" pitchFamily="34" charset="0"/>
                <a:ea typeface="Calibri" pitchFamily="34" charset="-122"/>
                <a:cs typeface="Calibri" pitchFamily="34" charset="-120"/>
              </a:rPr>
              <a:t>• Treat allocator and founder networks as flat CRM database rows.</a:t>
            </a:r>
            <a:endParaRPr lang="en-US" sz="1200" dirty="0"/>
          </a:p>
          <a:p>
            <a:pPr indent="0" marL="0">
              <a:lnSpc>
                <a:spcPct val="130000"/>
              </a:lnSpc>
              <a:buNone/>
            </a:pPr>
            <a:r>
              <a:rPr lang="en-US" sz="1200" dirty="0">
                <a:solidFill>
                  <a:srgbClr val="F8FAFC"/>
                </a:solidFill>
                <a:latin typeface="Calibri" pitchFamily="34" charset="0"/>
                <a:ea typeface="Calibri" pitchFamily="34" charset="-122"/>
                <a:cs typeface="Calibri" pitchFamily="34" charset="-120"/>
              </a:rPr>
              <a:t>• Hundreds of lost hours spent on unstructured fundraising theater and dead inbound pipelines.</a:t>
            </a:r>
            <a:endParaRPr lang="en-US" sz="1200" dirty="0"/>
          </a:p>
          <a:p>
            <a:pPr indent="0" marL="0">
              <a:lnSpc>
                <a:spcPct val="130000"/>
              </a:lnSpc>
              <a:buNone/>
            </a:pPr>
            <a:r>
              <a:rPr lang="en-US" sz="1200" dirty="0">
                <a:solidFill>
                  <a:srgbClr val="F8FAFC"/>
                </a:solidFill>
                <a:latin typeface="Calibri" pitchFamily="34" charset="0"/>
                <a:ea typeface="Calibri" pitchFamily="34" charset="-122"/>
                <a:cs typeface="Calibri" pitchFamily="34" charset="-120"/>
              </a:rPr>
              <a:t>• Failure to map cross-border co-investment networks systematically.</a:t>
            </a:r>
            <a:endParaRPr lang="en-US" sz="1200" dirty="0"/>
          </a:p>
        </p:txBody>
      </p:sp>
      <p:sp>
        <p:nvSpPr>
          <p:cNvPr id="8" name="Shape 6"/>
          <p:cNvSpPr/>
          <p:nvPr/>
        </p:nvSpPr>
        <p:spPr>
          <a:xfrm>
            <a:off x="4754880" y="1371600"/>
            <a:ext cx="3931920" cy="3108960"/>
          </a:xfrm>
          <a:prstGeom prst="rect">
            <a:avLst/>
          </a:prstGeom>
          <a:solidFill>
            <a:srgbClr val="1E293B"/>
          </a:solidFill>
          <a:ln/>
          <a:effectLst>
            <a:outerShdw sx="100000" sy="100000" kx="0" ky="0" algn="bl" rotWithShape="0" blurRad="50800" dist="25400" dir="2700000">
              <a:srgbClr val="000000">
                <a:alpha val="15000"/>
              </a:srgbClr>
            </a:outerShdw>
          </a:effectLst>
        </p:spPr>
      </p:sp>
      <p:sp>
        <p:nvSpPr>
          <p:cNvPr id="9" name="Shape 7"/>
          <p:cNvSpPr/>
          <p:nvPr/>
        </p:nvSpPr>
        <p:spPr>
          <a:xfrm>
            <a:off x="4754880" y="1371600"/>
            <a:ext cx="3931920" cy="54864"/>
          </a:xfrm>
          <a:prstGeom prst="rect">
            <a:avLst/>
          </a:prstGeom>
          <a:solidFill>
            <a:srgbClr val="0D9488"/>
          </a:solidFill>
          <a:ln/>
        </p:spPr>
      </p:sp>
      <p:sp>
        <p:nvSpPr>
          <p:cNvPr id="10" name="Text 8"/>
          <p:cNvSpPr/>
          <p:nvPr/>
        </p:nvSpPr>
        <p:spPr>
          <a:xfrm>
            <a:off x="5029200" y="1645920"/>
            <a:ext cx="3383280" cy="274320"/>
          </a:xfrm>
          <a:prstGeom prst="rect">
            <a:avLst/>
          </a:prstGeom>
          <a:noFill/>
          <a:ln/>
        </p:spPr>
        <p:txBody>
          <a:bodyPr wrap="square" rtlCol="0" anchor="ctr"/>
          <a:lstStyle/>
          <a:p>
            <a:pPr indent="0" marL="0">
              <a:buNone/>
            </a:pPr>
            <a:r>
              <a:rPr lang="en-US" sz="1600" b="1" dirty="0">
                <a:solidFill>
                  <a:srgbClr val="2DD4BF"/>
                </a:solidFill>
                <a:latin typeface="Calibri" pitchFamily="34" charset="0"/>
                <a:ea typeface="Calibri" pitchFamily="34" charset="-122"/>
                <a:cs typeface="Calibri" pitchFamily="34" charset="-120"/>
              </a:rPr>
              <a:t>THE CONTRA AI-NATIVE ADVANTAGE</a:t>
            </a:r>
            <a:endParaRPr lang="en-US" sz="1600" dirty="0"/>
          </a:p>
        </p:txBody>
      </p:sp>
      <p:sp>
        <p:nvSpPr>
          <p:cNvPr id="11" name="Text 9"/>
          <p:cNvSpPr/>
          <p:nvPr/>
        </p:nvSpPr>
        <p:spPr>
          <a:xfrm>
            <a:off x="5029200" y="2103120"/>
            <a:ext cx="3383280" cy="2011680"/>
          </a:xfrm>
          <a:prstGeom prst="rect">
            <a:avLst/>
          </a:prstGeom>
          <a:noFill/>
          <a:ln/>
        </p:spPr>
        <p:txBody>
          <a:bodyPr wrap="square" rtlCol="0" anchor="ctr"/>
          <a:lstStyle/>
          <a:p>
            <a:pPr indent="0" marL="0">
              <a:lnSpc>
                <a:spcPct val="130000"/>
              </a:lnSpc>
              <a:buNone/>
            </a:pPr>
            <a:r>
              <a:rPr lang="en-US" sz="1200" dirty="0">
                <a:solidFill>
                  <a:srgbClr val="F8FAFC"/>
                </a:solidFill>
                <a:latin typeface="Calibri" pitchFamily="34" charset="0"/>
                <a:ea typeface="Calibri" pitchFamily="34" charset="-122"/>
                <a:cs typeface="Calibri" pitchFamily="34" charset="-120"/>
              </a:rPr>
              <a:t>• Data-driven sourcing capacity scanning global hiring shifts, corporate team breakaways, and code repository modifications.</a:t>
            </a:r>
            <a:endParaRPr lang="en-US" sz="1200" dirty="0"/>
          </a:p>
          <a:p>
            <a:pPr indent="0" marL="0">
              <a:lnSpc>
                <a:spcPct val="130000"/>
              </a:lnSpc>
              <a:buNone/>
            </a:pPr>
            <a:r>
              <a:rPr lang="en-US" sz="1200" dirty="0">
                <a:solidFill>
                  <a:srgbClr val="F8FAFC"/>
                </a:solidFill>
                <a:latin typeface="Calibri" pitchFamily="34" charset="0"/>
                <a:ea typeface="Calibri" pitchFamily="34" charset="-122"/>
                <a:cs typeface="Calibri" pitchFamily="34" charset="-120"/>
              </a:rPr>
              <a:t>• View cross-border technology relationships as a measurable asset graph.</a:t>
            </a:r>
            <a:endParaRPr lang="en-US" sz="1200" dirty="0"/>
          </a:p>
          <a:p>
            <a:pPr indent="0" marL="0">
              <a:lnSpc>
                <a:spcPct val="130000"/>
              </a:lnSpc>
              <a:buNone/>
            </a:pPr>
            <a:r>
              <a:rPr lang="en-US" sz="1200" dirty="0">
                <a:solidFill>
                  <a:srgbClr val="F8FAFC"/>
                </a:solidFill>
                <a:latin typeface="Calibri" pitchFamily="34" charset="0"/>
                <a:ea typeface="Calibri" pitchFamily="34" charset="-122"/>
                <a:cs typeface="Calibri" pitchFamily="34" charset="-120"/>
              </a:rPr>
              <a:t>• Match hidden co-investment trends to find premium allocations ahead of traditional competition.</a:t>
            </a:r>
            <a:endParaRPr lang="en-US" sz="1200" dirty="0"/>
          </a:p>
          <a:p>
            <a:pPr indent="0" marL="0">
              <a:lnSpc>
                <a:spcPct val="130000"/>
              </a:lnSpc>
              <a:buNone/>
            </a:pPr>
            <a:r>
              <a:rPr lang="en-US" sz="1200" dirty="0">
                <a:solidFill>
                  <a:srgbClr val="F8FAFC"/>
                </a:solidFill>
                <a:latin typeface="Calibri" pitchFamily="34" charset="0"/>
                <a:ea typeface="Calibri" pitchFamily="34" charset="-122"/>
                <a:cs typeface="Calibri" pitchFamily="34" charset="-120"/>
              </a:rPr>
              <a:t>• Multi-layered data verification built inside our core architecture.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THE SYSTEM: THREE-LAYER OPERATIONAL BLUEPRINT</a:t>
            </a:r>
            <a:endParaRPr lang="en-US" sz="2400" dirty="0"/>
          </a:p>
        </p:txBody>
      </p:sp>
      <p:sp>
        <p:nvSpPr>
          <p:cNvPr id="3" name="Shape 1"/>
          <p:cNvSpPr/>
          <p:nvPr/>
        </p:nvSpPr>
        <p:spPr>
          <a:xfrm>
            <a:off x="457200" y="822960"/>
            <a:ext cx="1371600" cy="36576"/>
          </a:xfrm>
          <a:prstGeom prst="rect">
            <a:avLst/>
          </a:prstGeom>
          <a:solidFill>
            <a:srgbClr val="D97706"/>
          </a:solidFill>
          <a:ln/>
        </p:spPr>
      </p:sp>
      <p:sp>
        <p:nvSpPr>
          <p:cNvPr id="4" name="Shape 2"/>
          <p:cNvSpPr/>
          <p:nvPr/>
        </p:nvSpPr>
        <p:spPr>
          <a:xfrm>
            <a:off x="457200" y="1371600"/>
            <a:ext cx="8229600" cy="914400"/>
          </a:xfrm>
          <a:prstGeom prst="rect">
            <a:avLst/>
          </a:prstGeom>
          <a:solidFill>
            <a:srgbClr val="1E293B"/>
          </a:solidFill>
          <a:ln/>
          <a:effectLst>
            <a:outerShdw sx="100000" sy="100000" kx="0" ky="0" algn="bl" rotWithShape="0" blurRad="50800" dist="25400" dir="2700000">
              <a:srgbClr val="000000">
                <a:alpha val="15000"/>
              </a:srgbClr>
            </a:outerShdw>
          </a:effectLst>
        </p:spPr>
      </p:sp>
      <p:sp>
        <p:nvSpPr>
          <p:cNvPr id="5" name="Shape 3"/>
          <p:cNvSpPr/>
          <p:nvPr/>
        </p:nvSpPr>
        <p:spPr>
          <a:xfrm>
            <a:off x="457200" y="1371600"/>
            <a:ext cx="54864" cy="914400"/>
          </a:xfrm>
          <a:prstGeom prst="rect">
            <a:avLst/>
          </a:prstGeom>
          <a:solidFill>
            <a:srgbClr val="0D9488"/>
          </a:solidFill>
          <a:ln/>
        </p:spPr>
      </p:sp>
      <p:sp>
        <p:nvSpPr>
          <p:cNvPr id="6" name="Text 4"/>
          <p:cNvSpPr/>
          <p:nvPr/>
        </p:nvSpPr>
        <p:spPr>
          <a:xfrm>
            <a:off x="731520" y="1554480"/>
            <a:ext cx="1097280" cy="548640"/>
          </a:xfrm>
          <a:prstGeom prst="rect">
            <a:avLst/>
          </a:prstGeom>
          <a:noFill/>
          <a:ln/>
        </p:spPr>
        <p:txBody>
          <a:bodyPr wrap="square" rtlCol="0" anchor="ctr"/>
          <a:lstStyle/>
          <a:p>
            <a:pPr indent="0" marL="0">
              <a:buNone/>
            </a:pPr>
            <a:r>
              <a:rPr lang="en-US" sz="2400" b="1" dirty="0">
                <a:solidFill>
                  <a:srgbClr val="D97706"/>
                </a:solidFill>
                <a:latin typeface="Calibri" pitchFamily="34" charset="0"/>
                <a:ea typeface="Calibri" pitchFamily="34" charset="-122"/>
                <a:cs typeface="Calibri" pitchFamily="34" charset="-120"/>
              </a:rPr>
              <a:t>SCAN</a:t>
            </a:r>
            <a:endParaRPr lang="en-US" sz="2400" dirty="0"/>
          </a:p>
        </p:txBody>
      </p:sp>
      <p:sp>
        <p:nvSpPr>
          <p:cNvPr id="7" name="Text 5"/>
          <p:cNvSpPr/>
          <p:nvPr/>
        </p:nvSpPr>
        <p:spPr>
          <a:xfrm>
            <a:off x="2011680" y="1508760"/>
            <a:ext cx="2286000" cy="27432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Sourcing Layer</a:t>
            </a:r>
            <a:endParaRPr lang="en-US" sz="1400" dirty="0"/>
          </a:p>
        </p:txBody>
      </p:sp>
      <p:sp>
        <p:nvSpPr>
          <p:cNvPr id="8" name="Text 6"/>
          <p:cNvSpPr/>
          <p:nvPr/>
        </p:nvSpPr>
        <p:spPr>
          <a:xfrm>
            <a:off x="2011680" y="1783080"/>
            <a:ext cx="6400800" cy="457200"/>
          </a:xfrm>
          <a:prstGeom prst="rect">
            <a:avLst/>
          </a:prstGeom>
          <a:noFill/>
          <a:ln/>
        </p:spPr>
        <p:txBody>
          <a:bodyPr wrap="square" rtlCol="0" anchor="ctr"/>
          <a:lstStyle/>
          <a:p>
            <a:pPr indent="0" marL="0">
              <a:lnSpc>
                <a:spcPct val="110000"/>
              </a:lnSpc>
              <a:buNone/>
            </a:pPr>
            <a:r>
              <a:rPr lang="en-US" sz="1100" dirty="0">
                <a:solidFill>
                  <a:srgbClr val="F8FAFC"/>
                </a:solidFill>
                <a:latin typeface="Calibri" pitchFamily="34" charset="0"/>
                <a:ea typeface="Calibri" pitchFamily="34" charset="-122"/>
                <a:cs typeface="Calibri" pitchFamily="34" charset="-120"/>
              </a:rPr>
              <a:t>Continuously maps early-stage startup opportunities before legacy discovery. Autonomously processes public signals, engineering history, ecosystem densities, and talent transitions.</a:t>
            </a:r>
            <a:endParaRPr lang="en-US" sz="1100" dirty="0"/>
          </a:p>
        </p:txBody>
      </p:sp>
      <p:sp>
        <p:nvSpPr>
          <p:cNvPr id="9" name="Shape 7"/>
          <p:cNvSpPr/>
          <p:nvPr/>
        </p:nvSpPr>
        <p:spPr>
          <a:xfrm>
            <a:off x="457200" y="2468880"/>
            <a:ext cx="8229600" cy="914400"/>
          </a:xfrm>
          <a:prstGeom prst="rect">
            <a:avLst/>
          </a:prstGeom>
          <a:solidFill>
            <a:srgbClr val="1E293B"/>
          </a:solidFill>
          <a:ln/>
          <a:effectLst>
            <a:outerShdw sx="100000" sy="100000" kx="0" ky="0" algn="bl" rotWithShape="0" blurRad="50800" dist="25400" dir="2700000">
              <a:srgbClr val="000000">
                <a:alpha val="15000"/>
              </a:srgbClr>
            </a:outerShdw>
          </a:effectLst>
        </p:spPr>
      </p:sp>
      <p:sp>
        <p:nvSpPr>
          <p:cNvPr id="10" name="Shape 8"/>
          <p:cNvSpPr/>
          <p:nvPr/>
        </p:nvSpPr>
        <p:spPr>
          <a:xfrm>
            <a:off x="457200" y="2468880"/>
            <a:ext cx="54864" cy="914400"/>
          </a:xfrm>
          <a:prstGeom prst="rect">
            <a:avLst/>
          </a:prstGeom>
          <a:solidFill>
            <a:srgbClr val="0D9488"/>
          </a:solidFill>
          <a:ln/>
        </p:spPr>
      </p:sp>
      <p:sp>
        <p:nvSpPr>
          <p:cNvPr id="11" name="Text 9"/>
          <p:cNvSpPr/>
          <p:nvPr/>
        </p:nvSpPr>
        <p:spPr>
          <a:xfrm>
            <a:off x="731520" y="2651760"/>
            <a:ext cx="1097280" cy="548640"/>
          </a:xfrm>
          <a:prstGeom prst="rect">
            <a:avLst/>
          </a:prstGeom>
          <a:noFill/>
          <a:ln/>
        </p:spPr>
        <p:txBody>
          <a:bodyPr wrap="square" rtlCol="0" anchor="ctr"/>
          <a:lstStyle/>
          <a:p>
            <a:pPr indent="0" marL="0">
              <a:buNone/>
            </a:pPr>
            <a:r>
              <a:rPr lang="en-US" sz="2400" b="1" dirty="0">
                <a:solidFill>
                  <a:srgbClr val="D97706"/>
                </a:solidFill>
                <a:latin typeface="Calibri" pitchFamily="34" charset="0"/>
                <a:ea typeface="Calibri" pitchFamily="34" charset="-122"/>
                <a:cs typeface="Calibri" pitchFamily="34" charset="-120"/>
              </a:rPr>
              <a:t>STORE</a:t>
            </a:r>
            <a:endParaRPr lang="en-US" sz="2400" dirty="0"/>
          </a:p>
        </p:txBody>
      </p:sp>
      <p:sp>
        <p:nvSpPr>
          <p:cNvPr id="12" name="Text 10"/>
          <p:cNvSpPr/>
          <p:nvPr/>
        </p:nvSpPr>
        <p:spPr>
          <a:xfrm>
            <a:off x="2011680" y="2606040"/>
            <a:ext cx="2286000" cy="27432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Judgment Layer</a:t>
            </a:r>
            <a:endParaRPr lang="en-US" sz="1400" dirty="0"/>
          </a:p>
        </p:txBody>
      </p:sp>
      <p:sp>
        <p:nvSpPr>
          <p:cNvPr id="13" name="Text 11"/>
          <p:cNvSpPr/>
          <p:nvPr/>
        </p:nvSpPr>
        <p:spPr>
          <a:xfrm>
            <a:off x="2011680" y="2880360"/>
            <a:ext cx="6400800" cy="457200"/>
          </a:xfrm>
          <a:prstGeom prst="rect">
            <a:avLst/>
          </a:prstGeom>
          <a:noFill/>
          <a:ln/>
        </p:spPr>
        <p:txBody>
          <a:bodyPr wrap="square" rtlCol="0" anchor="ctr"/>
          <a:lstStyle/>
          <a:p>
            <a:pPr indent="0" marL="0">
              <a:lnSpc>
                <a:spcPct val="110000"/>
              </a:lnSpc>
              <a:buNone/>
            </a:pPr>
            <a:r>
              <a:rPr lang="en-US" sz="1100" dirty="0">
                <a:solidFill>
                  <a:srgbClr val="F8FAFC"/>
                </a:solidFill>
                <a:latin typeface="Calibri" pitchFamily="34" charset="0"/>
                <a:ea typeface="Calibri" pitchFamily="34" charset="-122"/>
                <a:cs typeface="Calibri" pitchFamily="34" charset="-120"/>
              </a:rPr>
              <a:t>Converts institutional intelligence into a compounding asset. Investment notes, internal deliberations, partner inputs, and historic outcomes are stored inside our queryable local architecture.</a:t>
            </a:r>
            <a:endParaRPr lang="en-US" sz="1100" dirty="0"/>
          </a:p>
        </p:txBody>
      </p:sp>
      <p:sp>
        <p:nvSpPr>
          <p:cNvPr id="14" name="Shape 12"/>
          <p:cNvSpPr/>
          <p:nvPr/>
        </p:nvSpPr>
        <p:spPr>
          <a:xfrm>
            <a:off x="457200" y="3566160"/>
            <a:ext cx="8229600" cy="914400"/>
          </a:xfrm>
          <a:prstGeom prst="rect">
            <a:avLst/>
          </a:prstGeom>
          <a:solidFill>
            <a:srgbClr val="1E293B"/>
          </a:solidFill>
          <a:ln/>
          <a:effectLst>
            <a:outerShdw sx="100000" sy="100000" kx="0" ky="0" algn="bl" rotWithShape="0" blurRad="50800" dist="25400" dir="2700000">
              <a:srgbClr val="000000">
                <a:alpha val="15000"/>
              </a:srgbClr>
            </a:outerShdw>
          </a:effectLst>
        </p:spPr>
      </p:sp>
      <p:sp>
        <p:nvSpPr>
          <p:cNvPr id="15" name="Shape 13"/>
          <p:cNvSpPr/>
          <p:nvPr/>
        </p:nvSpPr>
        <p:spPr>
          <a:xfrm>
            <a:off x="457200" y="3566160"/>
            <a:ext cx="54864" cy="914400"/>
          </a:xfrm>
          <a:prstGeom prst="rect">
            <a:avLst/>
          </a:prstGeom>
          <a:solidFill>
            <a:srgbClr val="0D9488"/>
          </a:solidFill>
          <a:ln/>
        </p:spPr>
      </p:sp>
      <p:sp>
        <p:nvSpPr>
          <p:cNvPr id="16" name="Text 14"/>
          <p:cNvSpPr/>
          <p:nvPr/>
        </p:nvSpPr>
        <p:spPr>
          <a:xfrm>
            <a:off x="731520" y="3749040"/>
            <a:ext cx="1097280" cy="548640"/>
          </a:xfrm>
          <a:prstGeom prst="rect">
            <a:avLst/>
          </a:prstGeom>
          <a:noFill/>
          <a:ln/>
        </p:spPr>
        <p:txBody>
          <a:bodyPr wrap="square" rtlCol="0" anchor="ctr"/>
          <a:lstStyle/>
          <a:p>
            <a:pPr indent="0" marL="0">
              <a:buNone/>
            </a:pPr>
            <a:r>
              <a:rPr lang="en-US" sz="2400" b="1" dirty="0">
                <a:solidFill>
                  <a:srgbClr val="D97706"/>
                </a:solidFill>
                <a:latin typeface="Calibri" pitchFamily="34" charset="0"/>
                <a:ea typeface="Calibri" pitchFamily="34" charset="-122"/>
                <a:cs typeface="Calibri" pitchFamily="34" charset="-120"/>
              </a:rPr>
              <a:t>SCALE</a:t>
            </a:r>
            <a:endParaRPr lang="en-US" sz="2400" dirty="0"/>
          </a:p>
        </p:txBody>
      </p:sp>
      <p:sp>
        <p:nvSpPr>
          <p:cNvPr id="17" name="Text 15"/>
          <p:cNvSpPr/>
          <p:nvPr/>
        </p:nvSpPr>
        <p:spPr>
          <a:xfrm>
            <a:off x="2011680" y="3703320"/>
            <a:ext cx="2286000" cy="27432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Leverage Layer</a:t>
            </a:r>
            <a:endParaRPr lang="en-US" sz="1400" dirty="0"/>
          </a:p>
        </p:txBody>
      </p:sp>
      <p:sp>
        <p:nvSpPr>
          <p:cNvPr id="18" name="Text 16"/>
          <p:cNvSpPr/>
          <p:nvPr/>
        </p:nvSpPr>
        <p:spPr>
          <a:xfrm>
            <a:off x="2011680" y="3977640"/>
            <a:ext cx="6400800" cy="457200"/>
          </a:xfrm>
          <a:prstGeom prst="rect">
            <a:avLst/>
          </a:prstGeom>
          <a:noFill/>
          <a:ln/>
        </p:spPr>
        <p:txBody>
          <a:bodyPr wrap="square" rtlCol="0" anchor="ctr"/>
          <a:lstStyle/>
          <a:p>
            <a:pPr indent="0" marL="0">
              <a:lnSpc>
                <a:spcPct val="110000"/>
              </a:lnSpc>
              <a:buNone/>
            </a:pPr>
            <a:r>
              <a:rPr lang="en-US" sz="1100" dirty="0">
                <a:solidFill>
                  <a:srgbClr val="F8FAFC"/>
                </a:solidFill>
                <a:latin typeface="Calibri" pitchFamily="34" charset="0"/>
                <a:ea typeface="Calibri" pitchFamily="34" charset="-122"/>
                <a:cs typeface="Calibri" pitchFamily="34" charset="-120"/>
              </a:rPr>
              <a:t>Eliminates operational latency. Directly automates competitive mapping, portfolio tracking updates, and programmatic relationship signals to maintain institutional-scale throughput.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CROSS-BORDER REGULATORY ARCHITECTURE</a:t>
            </a:r>
            <a:endParaRPr lang="en-US" sz="2400" dirty="0"/>
          </a:p>
        </p:txBody>
      </p:sp>
      <p:sp>
        <p:nvSpPr>
          <p:cNvPr id="3" name="Shape 1"/>
          <p:cNvSpPr/>
          <p:nvPr/>
        </p:nvSpPr>
        <p:spPr>
          <a:xfrm>
            <a:off x="457200" y="822960"/>
            <a:ext cx="1371600" cy="36576"/>
          </a:xfrm>
          <a:prstGeom prst="rect">
            <a:avLst/>
          </a:prstGeom>
          <a:solidFill>
            <a:srgbClr val="D97706"/>
          </a:solidFill>
          <a:ln/>
        </p:spPr>
      </p:sp>
      <p:sp>
        <p:nvSpPr>
          <p:cNvPr id="4" name="Text 2"/>
          <p:cNvSpPr/>
          <p:nvPr/>
        </p:nvSpPr>
        <p:spPr>
          <a:xfrm>
            <a:off x="457200" y="1188720"/>
            <a:ext cx="8229600" cy="365760"/>
          </a:xfrm>
          <a:prstGeom prst="rect">
            <a:avLst/>
          </a:prstGeom>
          <a:noFill/>
          <a:ln/>
        </p:spPr>
        <p:txBody>
          <a:bodyPr wrap="square" rtlCol="0" anchor="ctr"/>
          <a:lstStyle/>
          <a:p>
            <a:pPr indent="0" marL="0">
              <a:buNone/>
            </a:pPr>
            <a:r>
              <a:rPr lang="en-US" sz="1300" dirty="0">
                <a:solidFill>
                  <a:srgbClr val="94A3B8"/>
                </a:solidFill>
                <a:latin typeface="Calibri" pitchFamily="34" charset="0"/>
                <a:ea typeface="Calibri" pitchFamily="34" charset="-122"/>
                <a:cs typeface="Calibri" pitchFamily="34" charset="-120"/>
              </a:rPr>
              <a:t>Engineered for institutional corporate boards to balance compliance, tax optimization, and entry discipline:</a:t>
            </a:r>
            <a:endParaRPr lang="en-US" sz="1300" dirty="0"/>
          </a:p>
        </p:txBody>
      </p:sp>
      <p:sp>
        <p:nvSpPr>
          <p:cNvPr id="5" name="Shape 3"/>
          <p:cNvSpPr/>
          <p:nvPr/>
        </p:nvSpPr>
        <p:spPr>
          <a:xfrm>
            <a:off x="457200" y="1737360"/>
            <a:ext cx="2560320" cy="2651760"/>
          </a:xfrm>
          <a:prstGeom prst="rect">
            <a:avLst/>
          </a:prstGeom>
          <a:solidFill>
            <a:srgbClr val="1E293B"/>
          </a:solidFill>
          <a:ln/>
          <a:effectLst>
            <a:outerShdw sx="100000" sy="100000" kx="0" ky="0" algn="bl" rotWithShape="0" blurRad="50800" dist="25400" dir="2700000">
              <a:srgbClr val="000000">
                <a:alpha val="15000"/>
              </a:srgbClr>
            </a:outerShdw>
          </a:effectLst>
        </p:spPr>
      </p:sp>
      <p:sp>
        <p:nvSpPr>
          <p:cNvPr id="6" name="Shape 4"/>
          <p:cNvSpPr/>
          <p:nvPr/>
        </p:nvSpPr>
        <p:spPr>
          <a:xfrm>
            <a:off x="457200" y="4297680"/>
            <a:ext cx="2560320" cy="91440"/>
          </a:xfrm>
          <a:prstGeom prst="rect">
            <a:avLst/>
          </a:prstGeom>
          <a:solidFill>
            <a:srgbClr val="D97706"/>
          </a:solidFill>
          <a:ln/>
        </p:spPr>
      </p:sp>
      <p:sp>
        <p:nvSpPr>
          <p:cNvPr id="7" name="Text 5"/>
          <p:cNvSpPr/>
          <p:nvPr/>
        </p:nvSpPr>
        <p:spPr>
          <a:xfrm>
            <a:off x="640080" y="2011680"/>
            <a:ext cx="2194560"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Standardized Feeder Framework</a:t>
            </a:r>
            <a:endParaRPr lang="en-US" sz="1400" dirty="0"/>
          </a:p>
        </p:txBody>
      </p:sp>
      <p:sp>
        <p:nvSpPr>
          <p:cNvPr id="8" name="Text 6"/>
          <p:cNvSpPr/>
          <p:nvPr/>
        </p:nvSpPr>
        <p:spPr>
          <a:xfrm>
            <a:off x="640080" y="2560320"/>
            <a:ext cx="2194560" cy="1554480"/>
          </a:xfrm>
          <a:prstGeom prst="rect">
            <a:avLst/>
          </a:prstGeom>
          <a:noFill/>
          <a:ln/>
        </p:spPr>
        <p:txBody>
          <a:bodyPr wrap="square" rtlCol="0" anchor="ctr"/>
          <a:lstStyle/>
          <a:p>
            <a:pPr indent="0" marL="0">
              <a:lnSpc>
                <a:spcPct val="120000"/>
              </a:lnSpc>
              <a:buNone/>
            </a:pPr>
            <a:r>
              <a:rPr lang="en-US" sz="1100" dirty="0">
                <a:solidFill>
                  <a:srgbClr val="F8FAFC"/>
                </a:solidFill>
                <a:latin typeface="Calibri" pitchFamily="34" charset="0"/>
                <a:ea typeface="Calibri" pitchFamily="34" charset="-122"/>
                <a:cs typeface="Calibri" pitchFamily="34" charset="-120"/>
              </a:rPr>
              <a:t>A secure Singapore VCC (Variable Capital Company) feeder structure routes international and APAC capital cleanly into a standard Delaware Master vehicle.</a:t>
            </a:r>
            <a:endParaRPr lang="en-US" sz="1100" dirty="0"/>
          </a:p>
        </p:txBody>
      </p:sp>
      <p:sp>
        <p:nvSpPr>
          <p:cNvPr id="9" name="Shape 7"/>
          <p:cNvSpPr/>
          <p:nvPr/>
        </p:nvSpPr>
        <p:spPr>
          <a:xfrm>
            <a:off x="3291840" y="1737360"/>
            <a:ext cx="2560320" cy="2651760"/>
          </a:xfrm>
          <a:prstGeom prst="rect">
            <a:avLst/>
          </a:prstGeom>
          <a:solidFill>
            <a:srgbClr val="1E293B"/>
          </a:solidFill>
          <a:ln/>
          <a:effectLst>
            <a:outerShdw sx="100000" sy="100000" kx="0" ky="0" algn="bl" rotWithShape="0" blurRad="50800" dist="25400" dir="2700000">
              <a:srgbClr val="000000">
                <a:alpha val="15000"/>
              </a:srgbClr>
            </a:outerShdw>
          </a:effectLst>
        </p:spPr>
      </p:sp>
      <p:sp>
        <p:nvSpPr>
          <p:cNvPr id="10" name="Shape 8"/>
          <p:cNvSpPr/>
          <p:nvPr/>
        </p:nvSpPr>
        <p:spPr>
          <a:xfrm>
            <a:off x="3291840" y="4297680"/>
            <a:ext cx="2560320" cy="91440"/>
          </a:xfrm>
          <a:prstGeom prst="rect">
            <a:avLst/>
          </a:prstGeom>
          <a:solidFill>
            <a:srgbClr val="D97706"/>
          </a:solidFill>
          <a:ln/>
        </p:spPr>
      </p:sp>
      <p:sp>
        <p:nvSpPr>
          <p:cNvPr id="11" name="Text 9"/>
          <p:cNvSpPr/>
          <p:nvPr/>
        </p:nvSpPr>
        <p:spPr>
          <a:xfrm>
            <a:off x="3474720" y="2011680"/>
            <a:ext cx="2194560"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Board-Level Compliance</a:t>
            </a:r>
            <a:endParaRPr lang="en-US" sz="1400" dirty="0"/>
          </a:p>
        </p:txBody>
      </p:sp>
      <p:sp>
        <p:nvSpPr>
          <p:cNvPr id="12" name="Text 10"/>
          <p:cNvSpPr/>
          <p:nvPr/>
        </p:nvSpPr>
        <p:spPr>
          <a:xfrm>
            <a:off x="3474720" y="2560320"/>
            <a:ext cx="2194560" cy="1554480"/>
          </a:xfrm>
          <a:prstGeom prst="rect">
            <a:avLst/>
          </a:prstGeom>
          <a:noFill/>
          <a:ln/>
        </p:spPr>
        <p:txBody>
          <a:bodyPr wrap="square" rtlCol="0" anchor="ctr"/>
          <a:lstStyle/>
          <a:p>
            <a:pPr indent="0" marL="0">
              <a:lnSpc>
                <a:spcPct val="120000"/>
              </a:lnSpc>
              <a:buNone/>
            </a:pPr>
            <a:r>
              <a:rPr lang="en-US" sz="1100" dirty="0">
                <a:solidFill>
                  <a:srgbClr val="F8FAFC"/>
                </a:solidFill>
                <a:latin typeface="Calibri" pitchFamily="34" charset="0"/>
                <a:ea typeface="Calibri" pitchFamily="34" charset="-122"/>
                <a:cs typeface="Calibri" pitchFamily="34" charset="-120"/>
              </a:rPr>
              <a:t>Delivering institutional-grade auditing transparency, secure net asset valuation (NAV) reporting, and balance-sheet visibility customized for corporate oversight.</a:t>
            </a:r>
            <a:endParaRPr lang="en-US" sz="1100" dirty="0"/>
          </a:p>
        </p:txBody>
      </p:sp>
      <p:sp>
        <p:nvSpPr>
          <p:cNvPr id="13" name="Shape 11"/>
          <p:cNvSpPr/>
          <p:nvPr/>
        </p:nvSpPr>
        <p:spPr>
          <a:xfrm>
            <a:off x="6126480" y="1737360"/>
            <a:ext cx="2560320" cy="2651760"/>
          </a:xfrm>
          <a:prstGeom prst="rect">
            <a:avLst/>
          </a:prstGeom>
          <a:solidFill>
            <a:srgbClr val="1E293B"/>
          </a:solidFill>
          <a:ln/>
          <a:effectLst>
            <a:outerShdw sx="100000" sy="100000" kx="0" ky="0" algn="bl" rotWithShape="0" blurRad="50800" dist="25400" dir="2700000">
              <a:srgbClr val="000000">
                <a:alpha val="15000"/>
              </a:srgbClr>
            </a:outerShdw>
          </a:effectLst>
        </p:spPr>
      </p:sp>
      <p:sp>
        <p:nvSpPr>
          <p:cNvPr id="14" name="Shape 12"/>
          <p:cNvSpPr/>
          <p:nvPr/>
        </p:nvSpPr>
        <p:spPr>
          <a:xfrm>
            <a:off x="6126480" y="4297680"/>
            <a:ext cx="2560320" cy="91440"/>
          </a:xfrm>
          <a:prstGeom prst="rect">
            <a:avLst/>
          </a:prstGeom>
          <a:solidFill>
            <a:srgbClr val="D97706"/>
          </a:solidFill>
          <a:ln/>
        </p:spPr>
      </p:sp>
      <p:sp>
        <p:nvSpPr>
          <p:cNvPr id="15" name="Text 13"/>
          <p:cNvSpPr/>
          <p:nvPr/>
        </p:nvSpPr>
        <p:spPr>
          <a:xfrm>
            <a:off x="6309360" y="2011680"/>
            <a:ext cx="2194560"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Strict Entry Pricing Discipline</a:t>
            </a:r>
            <a:endParaRPr lang="en-US" sz="1400" dirty="0"/>
          </a:p>
        </p:txBody>
      </p:sp>
      <p:sp>
        <p:nvSpPr>
          <p:cNvPr id="16" name="Text 14"/>
          <p:cNvSpPr/>
          <p:nvPr/>
        </p:nvSpPr>
        <p:spPr>
          <a:xfrm>
            <a:off x="6309360" y="2560320"/>
            <a:ext cx="2194560" cy="1554480"/>
          </a:xfrm>
          <a:prstGeom prst="rect">
            <a:avLst/>
          </a:prstGeom>
          <a:noFill/>
          <a:ln/>
        </p:spPr>
        <p:txBody>
          <a:bodyPr wrap="square" rtlCol="0" anchor="ctr"/>
          <a:lstStyle/>
          <a:p>
            <a:pPr indent="0" marL="0">
              <a:lnSpc>
                <a:spcPct val="120000"/>
              </a:lnSpc>
              <a:buNone/>
            </a:pPr>
            <a:r>
              <a:rPr lang="en-US" sz="1100" dirty="0">
                <a:solidFill>
                  <a:srgbClr val="F8FAFC"/>
                </a:solidFill>
                <a:latin typeface="Calibri" pitchFamily="34" charset="0"/>
                <a:ea typeface="Calibri" pitchFamily="34" charset="-122"/>
                <a:cs typeface="Calibri" pitchFamily="34" charset="-120"/>
              </a:rPr>
              <a:t>De-risking capital deployment by locking pre-seed and seed valuations to hard metrics, protecting corporate allocators from macro valuation compression.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THE SYNDICATE AS AN UNFAIR SOURCING ENGINE</a:t>
            </a:r>
            <a:endParaRPr lang="en-US" sz="2400" dirty="0"/>
          </a:p>
        </p:txBody>
      </p:sp>
      <p:sp>
        <p:nvSpPr>
          <p:cNvPr id="3" name="Shape 1"/>
          <p:cNvSpPr/>
          <p:nvPr/>
        </p:nvSpPr>
        <p:spPr>
          <a:xfrm>
            <a:off x="457200" y="822960"/>
            <a:ext cx="1371600" cy="36576"/>
          </a:xfrm>
          <a:prstGeom prst="rect">
            <a:avLst/>
          </a:prstGeom>
          <a:solidFill>
            <a:srgbClr val="D97706"/>
          </a:solidFill>
          <a:ln/>
        </p:spPr>
      </p:sp>
      <p:sp>
        <p:nvSpPr>
          <p:cNvPr id="4" name="Text 2"/>
          <p:cNvSpPr/>
          <p:nvPr/>
        </p:nvSpPr>
        <p:spPr>
          <a:xfrm>
            <a:off x="457200" y="1188720"/>
            <a:ext cx="8229600" cy="365760"/>
          </a:xfrm>
          <a:prstGeom prst="rect">
            <a:avLst/>
          </a:prstGeom>
          <a:noFill/>
          <a:ln/>
        </p:spPr>
        <p:txBody>
          <a:bodyPr wrap="square" rtlCol="0" anchor="ctr"/>
          <a:lstStyle/>
          <a:p>
            <a:pPr indent="0" marL="0">
              <a:buNone/>
            </a:pPr>
            <a:r>
              <a:rPr lang="en-US" sz="1300" dirty="0">
                <a:solidFill>
                  <a:srgbClr val="94A3B8"/>
                </a:solidFill>
                <a:latin typeface="Calibri" pitchFamily="34" charset="0"/>
                <a:ea typeface="Calibri" pitchFamily="34" charset="-122"/>
                <a:cs typeface="Calibri" pitchFamily="34" charset="-120"/>
              </a:rPr>
              <a:t>Contra VC leverages deep market distribution infrastructure developed across historical operational pathways:</a:t>
            </a:r>
            <a:endParaRPr lang="en-US" sz="1300" dirty="0"/>
          </a:p>
        </p:txBody>
      </p:sp>
      <p:sp>
        <p:nvSpPr>
          <p:cNvPr id="5" name="Shape 3"/>
          <p:cNvSpPr/>
          <p:nvPr/>
        </p:nvSpPr>
        <p:spPr>
          <a:xfrm>
            <a:off x="457200" y="1737360"/>
            <a:ext cx="2560320" cy="2651760"/>
          </a:xfrm>
          <a:prstGeom prst="rect">
            <a:avLst/>
          </a:prstGeom>
          <a:solidFill>
            <a:srgbClr val="1E293B"/>
          </a:solidFill>
          <a:ln/>
          <a:effectLst>
            <a:outerShdw sx="100000" sy="100000" kx="0" ky="0" algn="bl" rotWithShape="0" blurRad="50800" dist="25400" dir="2700000">
              <a:srgbClr val="000000">
                <a:alpha val="15000"/>
              </a:srgbClr>
            </a:outerShdw>
          </a:effectLst>
        </p:spPr>
      </p:sp>
      <p:sp>
        <p:nvSpPr>
          <p:cNvPr id="6" name="Shape 4"/>
          <p:cNvSpPr/>
          <p:nvPr/>
        </p:nvSpPr>
        <p:spPr>
          <a:xfrm>
            <a:off x="457200" y="1737360"/>
            <a:ext cx="2560320" cy="54864"/>
          </a:xfrm>
          <a:prstGeom prst="rect">
            <a:avLst/>
          </a:prstGeom>
          <a:solidFill>
            <a:srgbClr val="0D9488"/>
          </a:solidFill>
          <a:ln/>
        </p:spPr>
      </p:sp>
      <p:sp>
        <p:nvSpPr>
          <p:cNvPr id="7" name="Text 5"/>
          <p:cNvSpPr/>
          <p:nvPr/>
        </p:nvSpPr>
        <p:spPr>
          <a:xfrm>
            <a:off x="640080" y="2011680"/>
            <a:ext cx="2194560" cy="457200"/>
          </a:xfrm>
          <a:prstGeom prst="rect">
            <a:avLst/>
          </a:prstGeom>
          <a:noFill/>
          <a:ln/>
        </p:spPr>
        <p:txBody>
          <a:bodyPr wrap="square"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Active Sourcing Baseline</a:t>
            </a:r>
            <a:endParaRPr lang="en-US" sz="1400" dirty="0"/>
          </a:p>
        </p:txBody>
      </p:sp>
      <p:sp>
        <p:nvSpPr>
          <p:cNvPr id="8" name="Text 6"/>
          <p:cNvSpPr/>
          <p:nvPr/>
        </p:nvSpPr>
        <p:spPr>
          <a:xfrm>
            <a:off x="640080" y="2560320"/>
            <a:ext cx="2194560" cy="1554480"/>
          </a:xfrm>
          <a:prstGeom prst="rect">
            <a:avLst/>
          </a:prstGeom>
          <a:noFill/>
          <a:ln/>
        </p:spPr>
        <p:txBody>
          <a:bodyPr wrap="square" rtlCol="0" anchor="ctr"/>
          <a:lstStyle/>
          <a:p>
            <a:pPr indent="0" marL="0">
              <a:lnSpc>
                <a:spcPct val="120000"/>
              </a:lnSpc>
              <a:buNone/>
            </a:pPr>
            <a:r>
              <a:rPr lang="en-US" sz="1100" dirty="0">
                <a:solidFill>
                  <a:srgbClr val="F8FAFC"/>
                </a:solidFill>
                <a:latin typeface="Calibri" pitchFamily="34" charset="0"/>
                <a:ea typeface="Calibri" pitchFamily="34" charset="-122"/>
                <a:cs typeface="Calibri" pitchFamily="34" charset="-120"/>
              </a:rPr>
              <a:t>Our baseline pipelines, cross-border relationships, and sourcing channels have been actively compounding since 2023, completely removing the traditional 'cold start' problem of new funds.</a:t>
            </a:r>
            <a:endParaRPr lang="en-US" sz="1100" dirty="0"/>
          </a:p>
        </p:txBody>
      </p:sp>
      <p:sp>
        <p:nvSpPr>
          <p:cNvPr id="9" name="Shape 7"/>
          <p:cNvSpPr/>
          <p:nvPr/>
        </p:nvSpPr>
        <p:spPr>
          <a:xfrm>
            <a:off x="3291840" y="1737360"/>
            <a:ext cx="2560320" cy="2651760"/>
          </a:xfrm>
          <a:prstGeom prst="rect">
            <a:avLst/>
          </a:prstGeom>
          <a:solidFill>
            <a:srgbClr val="1E293B"/>
          </a:solidFill>
          <a:ln/>
          <a:effectLst>
            <a:outerShdw sx="100000" sy="100000" kx="0" ky="0" algn="bl" rotWithShape="0" blurRad="50800" dist="25400" dir="2700000">
              <a:srgbClr val="000000">
                <a:alpha val="15000"/>
              </a:srgbClr>
            </a:outerShdw>
          </a:effectLst>
        </p:spPr>
      </p:sp>
      <p:sp>
        <p:nvSpPr>
          <p:cNvPr id="10" name="Shape 8"/>
          <p:cNvSpPr/>
          <p:nvPr/>
        </p:nvSpPr>
        <p:spPr>
          <a:xfrm>
            <a:off x="3291840" y="1737360"/>
            <a:ext cx="2560320" cy="54864"/>
          </a:xfrm>
          <a:prstGeom prst="rect">
            <a:avLst/>
          </a:prstGeom>
          <a:solidFill>
            <a:srgbClr val="0D9488"/>
          </a:solidFill>
          <a:ln/>
        </p:spPr>
      </p:sp>
      <p:sp>
        <p:nvSpPr>
          <p:cNvPr id="11" name="Text 9"/>
          <p:cNvSpPr/>
          <p:nvPr/>
        </p:nvSpPr>
        <p:spPr>
          <a:xfrm>
            <a:off x="3474720" y="2011680"/>
            <a:ext cx="2194560" cy="457200"/>
          </a:xfrm>
          <a:prstGeom prst="rect">
            <a:avLst/>
          </a:prstGeom>
          <a:noFill/>
          <a:ln/>
        </p:spPr>
        <p:txBody>
          <a:bodyPr wrap="square"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Fiduciary Separation</a:t>
            </a:r>
            <a:endParaRPr lang="en-US" sz="1400" dirty="0"/>
          </a:p>
        </p:txBody>
      </p:sp>
      <p:sp>
        <p:nvSpPr>
          <p:cNvPr id="12" name="Text 10"/>
          <p:cNvSpPr/>
          <p:nvPr/>
        </p:nvSpPr>
        <p:spPr>
          <a:xfrm>
            <a:off x="3474720" y="2560320"/>
            <a:ext cx="2194560" cy="1554480"/>
          </a:xfrm>
          <a:prstGeom prst="rect">
            <a:avLst/>
          </a:prstGeom>
          <a:noFill/>
          <a:ln/>
        </p:spPr>
        <p:txBody>
          <a:bodyPr wrap="square" rtlCol="0" anchor="ctr"/>
          <a:lstStyle/>
          <a:p>
            <a:pPr indent="0" marL="0">
              <a:lnSpc>
                <a:spcPct val="120000"/>
              </a:lnSpc>
              <a:buNone/>
            </a:pPr>
            <a:r>
              <a:rPr lang="en-US" sz="1100" dirty="0">
                <a:solidFill>
                  <a:srgbClr val="F8FAFC"/>
                </a:solidFill>
                <a:latin typeface="Calibri" pitchFamily="34" charset="0"/>
                <a:ea typeface="Calibri" pitchFamily="34" charset="-122"/>
                <a:cs typeface="Calibri" pitchFamily="34" charset="-120"/>
              </a:rPr>
              <a:t>Contra VC Fund I operates with an entirely distinct institutional management team and professional governance protocols, eliminating retail allocation overlap.</a:t>
            </a:r>
            <a:endParaRPr lang="en-US" sz="1100" dirty="0"/>
          </a:p>
        </p:txBody>
      </p:sp>
      <p:sp>
        <p:nvSpPr>
          <p:cNvPr id="13" name="Shape 11"/>
          <p:cNvSpPr/>
          <p:nvPr/>
        </p:nvSpPr>
        <p:spPr>
          <a:xfrm>
            <a:off x="6126480" y="1737360"/>
            <a:ext cx="2560320" cy="2651760"/>
          </a:xfrm>
          <a:prstGeom prst="rect">
            <a:avLst/>
          </a:prstGeom>
          <a:solidFill>
            <a:srgbClr val="1E293B"/>
          </a:solidFill>
          <a:ln/>
          <a:effectLst>
            <a:outerShdw sx="100000" sy="100000" kx="0" ky="0" algn="bl" rotWithShape="0" blurRad="50800" dist="25400" dir="2700000">
              <a:srgbClr val="000000">
                <a:alpha val="15000"/>
              </a:srgbClr>
            </a:outerShdw>
          </a:effectLst>
        </p:spPr>
      </p:sp>
      <p:sp>
        <p:nvSpPr>
          <p:cNvPr id="14" name="Shape 12"/>
          <p:cNvSpPr/>
          <p:nvPr/>
        </p:nvSpPr>
        <p:spPr>
          <a:xfrm>
            <a:off x="6126480" y="1737360"/>
            <a:ext cx="2560320" cy="54864"/>
          </a:xfrm>
          <a:prstGeom prst="rect">
            <a:avLst/>
          </a:prstGeom>
          <a:solidFill>
            <a:srgbClr val="0D9488"/>
          </a:solidFill>
          <a:ln/>
        </p:spPr>
      </p:sp>
      <p:sp>
        <p:nvSpPr>
          <p:cNvPr id="15" name="Text 13"/>
          <p:cNvSpPr/>
          <p:nvPr/>
        </p:nvSpPr>
        <p:spPr>
          <a:xfrm>
            <a:off x="6309360" y="2011680"/>
            <a:ext cx="2194560" cy="457200"/>
          </a:xfrm>
          <a:prstGeom prst="rect">
            <a:avLst/>
          </a:prstGeom>
          <a:noFill/>
          <a:ln/>
        </p:spPr>
        <p:txBody>
          <a:bodyPr wrap="square"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Premium Deal Provenance</a:t>
            </a:r>
            <a:endParaRPr lang="en-US" sz="1400" dirty="0"/>
          </a:p>
        </p:txBody>
      </p:sp>
      <p:sp>
        <p:nvSpPr>
          <p:cNvPr id="16" name="Text 14"/>
          <p:cNvSpPr/>
          <p:nvPr/>
        </p:nvSpPr>
        <p:spPr>
          <a:xfrm>
            <a:off x="6309360" y="2560320"/>
            <a:ext cx="2194560" cy="1554480"/>
          </a:xfrm>
          <a:prstGeom prst="rect">
            <a:avLst/>
          </a:prstGeom>
          <a:noFill/>
          <a:ln/>
        </p:spPr>
        <p:txBody>
          <a:bodyPr wrap="square" rtlCol="0" anchor="ctr"/>
          <a:lstStyle/>
          <a:p>
            <a:pPr indent="0" marL="0">
              <a:lnSpc>
                <a:spcPct val="120000"/>
              </a:lnSpc>
              <a:buNone/>
            </a:pPr>
            <a:r>
              <a:rPr lang="en-US" sz="1100" dirty="0">
                <a:solidFill>
                  <a:srgbClr val="F8FAFC"/>
                </a:solidFill>
                <a:latin typeface="Calibri" pitchFamily="34" charset="0"/>
                <a:ea typeface="Calibri" pitchFamily="34" charset="-122"/>
                <a:cs typeface="Calibri" pitchFamily="34" charset="-120"/>
              </a:rPr>
              <a:t>Our ecosystem network surfaces highly validated investment targets, pre-filtered via algorithmic visibility, allowing Fund I to lead rounds before open market competitive pricing.</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PORTFOLIO DESIGN &amp; TARGET ARCHITECTURE</a:t>
            </a:r>
            <a:endParaRPr lang="en-US" sz="2400" dirty="0"/>
          </a:p>
        </p:txBody>
      </p:sp>
      <p:sp>
        <p:nvSpPr>
          <p:cNvPr id="3" name="Shape 1"/>
          <p:cNvSpPr/>
          <p:nvPr/>
        </p:nvSpPr>
        <p:spPr>
          <a:xfrm>
            <a:off x="457200" y="822960"/>
            <a:ext cx="1371600" cy="36576"/>
          </a:xfrm>
          <a:prstGeom prst="rect">
            <a:avLst/>
          </a:prstGeom>
          <a:solidFill>
            <a:srgbClr val="D97706"/>
          </a:solidFill>
          <a:ln/>
        </p:spPr>
      </p:sp>
      <p:sp>
        <p:nvSpPr>
          <p:cNvPr id="4" name="Shape 2"/>
          <p:cNvSpPr/>
          <p:nvPr/>
        </p:nvSpPr>
        <p:spPr>
          <a:xfrm>
            <a:off x="457200" y="1371600"/>
            <a:ext cx="3931920" cy="1188720"/>
          </a:xfrm>
          <a:prstGeom prst="rect">
            <a:avLst/>
          </a:prstGeom>
          <a:solidFill>
            <a:srgbClr val="1E293B"/>
          </a:solidFill>
          <a:ln/>
          <a:effectLst>
            <a:outerShdw sx="100000" sy="100000" kx="0" ky="0" algn="bl" rotWithShape="0" blurRad="50800" dist="25400" dir="2700000">
              <a:srgbClr val="000000">
                <a:alpha val="15000"/>
              </a:srgbClr>
            </a:outerShdw>
          </a:effectLst>
        </p:spPr>
      </p:sp>
      <p:sp>
        <p:nvSpPr>
          <p:cNvPr id="5" name="Shape 3"/>
          <p:cNvSpPr/>
          <p:nvPr/>
        </p:nvSpPr>
        <p:spPr>
          <a:xfrm>
            <a:off x="457200" y="1371600"/>
            <a:ext cx="54864" cy="1188720"/>
          </a:xfrm>
          <a:prstGeom prst="rect">
            <a:avLst/>
          </a:prstGeom>
          <a:solidFill>
            <a:srgbClr val="0D9488"/>
          </a:solidFill>
          <a:ln/>
        </p:spPr>
      </p:sp>
      <p:sp>
        <p:nvSpPr>
          <p:cNvPr id="6" name="Text 4"/>
          <p:cNvSpPr/>
          <p:nvPr/>
        </p:nvSpPr>
        <p:spPr>
          <a:xfrm>
            <a:off x="731520" y="1508760"/>
            <a:ext cx="3474720" cy="457200"/>
          </a:xfrm>
          <a:prstGeom prst="rect">
            <a:avLst/>
          </a:prstGeom>
          <a:noFill/>
          <a:ln/>
        </p:spPr>
        <p:txBody>
          <a:bodyPr wrap="square" rtlCol="0" anchor="ctr"/>
          <a:lstStyle/>
          <a:p>
            <a:pPr indent="0" marL="0">
              <a:buNone/>
            </a:pPr>
            <a:r>
              <a:rPr lang="en-US" sz="2400" b="1" dirty="0">
                <a:solidFill>
                  <a:srgbClr val="D97706"/>
                </a:solidFill>
                <a:latin typeface="Calibri" pitchFamily="34" charset="0"/>
                <a:ea typeface="Calibri" pitchFamily="34" charset="-122"/>
                <a:cs typeface="Calibri" pitchFamily="34" charset="-120"/>
              </a:rPr>
              <a:t>25-30</a:t>
            </a:r>
            <a:endParaRPr lang="en-US" sz="2400" dirty="0"/>
          </a:p>
        </p:txBody>
      </p:sp>
      <p:sp>
        <p:nvSpPr>
          <p:cNvPr id="7" name="Text 5"/>
          <p:cNvSpPr/>
          <p:nvPr/>
        </p:nvSpPr>
        <p:spPr>
          <a:xfrm>
            <a:off x="731520" y="2011680"/>
            <a:ext cx="3474720" cy="365760"/>
          </a:xfrm>
          <a:prstGeom prst="rect">
            <a:avLst/>
          </a:prstGeom>
          <a:noFill/>
          <a:ln/>
        </p:spPr>
        <p:txBody>
          <a:bodyPr wrap="square" rtlCol="0" anchor="ctr"/>
          <a:lstStyle/>
          <a:p>
            <a:pPr indent="0" marL="0">
              <a:buNone/>
            </a:pPr>
            <a:r>
              <a:rPr lang="en-US" sz="1200" b="1" dirty="0">
                <a:solidFill>
                  <a:srgbClr val="F8FAFC"/>
                </a:solidFill>
                <a:latin typeface="Calibri" pitchFamily="34" charset="0"/>
                <a:ea typeface="Calibri" pitchFamily="34" charset="-122"/>
                <a:cs typeface="Calibri" pitchFamily="34" charset="-120"/>
              </a:rPr>
              <a:t>Core High-Conviction Technology Positions</a:t>
            </a:r>
            <a:endParaRPr lang="en-US" sz="1200" dirty="0"/>
          </a:p>
        </p:txBody>
      </p:sp>
      <p:sp>
        <p:nvSpPr>
          <p:cNvPr id="8" name="Shape 6"/>
          <p:cNvSpPr/>
          <p:nvPr/>
        </p:nvSpPr>
        <p:spPr>
          <a:xfrm>
            <a:off x="4663440" y="1371600"/>
            <a:ext cx="3931920" cy="1188720"/>
          </a:xfrm>
          <a:prstGeom prst="rect">
            <a:avLst/>
          </a:prstGeom>
          <a:solidFill>
            <a:srgbClr val="1E293B"/>
          </a:solidFill>
          <a:ln/>
          <a:effectLst>
            <a:outerShdw sx="100000" sy="100000" kx="0" ky="0" algn="bl" rotWithShape="0" blurRad="50800" dist="25400" dir="2700000">
              <a:srgbClr val="000000">
                <a:alpha val="15000"/>
              </a:srgbClr>
            </a:outerShdw>
          </a:effectLst>
        </p:spPr>
      </p:sp>
      <p:sp>
        <p:nvSpPr>
          <p:cNvPr id="9" name="Shape 7"/>
          <p:cNvSpPr/>
          <p:nvPr/>
        </p:nvSpPr>
        <p:spPr>
          <a:xfrm>
            <a:off x="4663440" y="1371600"/>
            <a:ext cx="54864" cy="1188720"/>
          </a:xfrm>
          <a:prstGeom prst="rect">
            <a:avLst/>
          </a:prstGeom>
          <a:solidFill>
            <a:srgbClr val="0D9488"/>
          </a:solidFill>
          <a:ln/>
        </p:spPr>
      </p:sp>
      <p:sp>
        <p:nvSpPr>
          <p:cNvPr id="10" name="Text 8"/>
          <p:cNvSpPr/>
          <p:nvPr/>
        </p:nvSpPr>
        <p:spPr>
          <a:xfrm>
            <a:off x="4937760" y="1508760"/>
            <a:ext cx="3474720" cy="457200"/>
          </a:xfrm>
          <a:prstGeom prst="rect">
            <a:avLst/>
          </a:prstGeom>
          <a:noFill/>
          <a:ln/>
        </p:spPr>
        <p:txBody>
          <a:bodyPr wrap="square" rtlCol="0" anchor="ctr"/>
          <a:lstStyle/>
          <a:p>
            <a:pPr indent="0" marL="0">
              <a:buNone/>
            </a:pPr>
            <a:r>
              <a:rPr lang="en-US" sz="2400" b="1" dirty="0">
                <a:solidFill>
                  <a:srgbClr val="D97706"/>
                </a:solidFill>
                <a:latin typeface="Calibri" pitchFamily="34" charset="0"/>
                <a:ea typeface="Calibri" pitchFamily="34" charset="-122"/>
                <a:cs typeface="Calibri" pitchFamily="34" charset="-120"/>
              </a:rPr>
              <a:t>Singapore / DE</a:t>
            </a:r>
            <a:endParaRPr lang="en-US" sz="2400" dirty="0"/>
          </a:p>
        </p:txBody>
      </p:sp>
      <p:sp>
        <p:nvSpPr>
          <p:cNvPr id="11" name="Text 9"/>
          <p:cNvSpPr/>
          <p:nvPr/>
        </p:nvSpPr>
        <p:spPr>
          <a:xfrm>
            <a:off x="4937760" y="2011680"/>
            <a:ext cx="3474720" cy="365760"/>
          </a:xfrm>
          <a:prstGeom prst="rect">
            <a:avLst/>
          </a:prstGeom>
          <a:noFill/>
          <a:ln/>
        </p:spPr>
        <p:txBody>
          <a:bodyPr wrap="square" rtlCol="0" anchor="ctr"/>
          <a:lstStyle/>
          <a:p>
            <a:pPr indent="0" marL="0">
              <a:buNone/>
            </a:pPr>
            <a:r>
              <a:rPr lang="en-US" sz="1200" b="1" dirty="0">
                <a:solidFill>
                  <a:srgbClr val="F8FAFC"/>
                </a:solidFill>
                <a:latin typeface="Calibri" pitchFamily="34" charset="0"/>
                <a:ea typeface="Calibri" pitchFamily="34" charset="-122"/>
                <a:cs typeface="Calibri" pitchFamily="34" charset="-120"/>
              </a:rPr>
              <a:t>Insulated Dual-Track Regulatory Master Structure</a:t>
            </a:r>
            <a:endParaRPr lang="en-US" sz="1200" dirty="0"/>
          </a:p>
        </p:txBody>
      </p:sp>
      <p:sp>
        <p:nvSpPr>
          <p:cNvPr id="12" name="Shape 10"/>
          <p:cNvSpPr/>
          <p:nvPr/>
        </p:nvSpPr>
        <p:spPr>
          <a:xfrm>
            <a:off x="457200" y="2926080"/>
            <a:ext cx="3931920" cy="1188720"/>
          </a:xfrm>
          <a:prstGeom prst="rect">
            <a:avLst/>
          </a:prstGeom>
          <a:solidFill>
            <a:srgbClr val="1E293B"/>
          </a:solidFill>
          <a:ln/>
          <a:effectLst>
            <a:outerShdw sx="100000" sy="100000" kx="0" ky="0" algn="bl" rotWithShape="0" blurRad="50800" dist="25400" dir="2700000">
              <a:srgbClr val="000000">
                <a:alpha val="15000"/>
              </a:srgbClr>
            </a:outerShdw>
          </a:effectLst>
        </p:spPr>
      </p:sp>
      <p:sp>
        <p:nvSpPr>
          <p:cNvPr id="13" name="Shape 11"/>
          <p:cNvSpPr/>
          <p:nvPr/>
        </p:nvSpPr>
        <p:spPr>
          <a:xfrm>
            <a:off x="457200" y="2926080"/>
            <a:ext cx="54864" cy="1188720"/>
          </a:xfrm>
          <a:prstGeom prst="rect">
            <a:avLst/>
          </a:prstGeom>
          <a:solidFill>
            <a:srgbClr val="0D9488"/>
          </a:solidFill>
          <a:ln/>
        </p:spPr>
      </p:sp>
      <p:sp>
        <p:nvSpPr>
          <p:cNvPr id="14" name="Text 12"/>
          <p:cNvSpPr/>
          <p:nvPr/>
        </p:nvSpPr>
        <p:spPr>
          <a:xfrm>
            <a:off x="731520" y="3063240"/>
            <a:ext cx="3474720" cy="457200"/>
          </a:xfrm>
          <a:prstGeom prst="rect">
            <a:avLst/>
          </a:prstGeom>
          <a:noFill/>
          <a:ln/>
        </p:spPr>
        <p:txBody>
          <a:bodyPr wrap="square" rtlCol="0" anchor="ctr"/>
          <a:lstStyle/>
          <a:p>
            <a:pPr indent="0" marL="0">
              <a:buNone/>
            </a:pPr>
            <a:r>
              <a:rPr lang="en-US" sz="2400" b="1" dirty="0">
                <a:solidFill>
                  <a:srgbClr val="D97706"/>
                </a:solidFill>
                <a:latin typeface="Calibri" pitchFamily="34" charset="0"/>
                <a:ea typeface="Calibri" pitchFamily="34" charset="-122"/>
                <a:cs typeface="Calibri" pitchFamily="34" charset="-120"/>
              </a:rPr>
              <a:t>50%</a:t>
            </a:r>
            <a:endParaRPr lang="en-US" sz="2400" dirty="0"/>
          </a:p>
        </p:txBody>
      </p:sp>
      <p:sp>
        <p:nvSpPr>
          <p:cNvPr id="15" name="Text 13"/>
          <p:cNvSpPr/>
          <p:nvPr/>
        </p:nvSpPr>
        <p:spPr>
          <a:xfrm>
            <a:off x="731520" y="3566160"/>
            <a:ext cx="3474720" cy="365760"/>
          </a:xfrm>
          <a:prstGeom prst="rect">
            <a:avLst/>
          </a:prstGeom>
          <a:noFill/>
          <a:ln/>
        </p:spPr>
        <p:txBody>
          <a:bodyPr wrap="square" rtlCol="0" anchor="ctr"/>
          <a:lstStyle/>
          <a:p>
            <a:pPr indent="0" marL="0">
              <a:buNone/>
            </a:pPr>
            <a:r>
              <a:rPr lang="en-US" sz="1200" b="1" dirty="0">
                <a:solidFill>
                  <a:srgbClr val="F8FAFC"/>
                </a:solidFill>
                <a:latin typeface="Calibri" pitchFamily="34" charset="0"/>
                <a:ea typeface="Calibri" pitchFamily="34" charset="-122"/>
                <a:cs typeface="Calibri" pitchFamily="34" charset="-120"/>
              </a:rPr>
              <a:t>Capital Allocation Reserved for Follow-on Velocity</a:t>
            </a:r>
            <a:endParaRPr lang="en-US" sz="1200" dirty="0"/>
          </a:p>
        </p:txBody>
      </p:sp>
      <p:sp>
        <p:nvSpPr>
          <p:cNvPr id="16" name="Shape 14"/>
          <p:cNvSpPr/>
          <p:nvPr/>
        </p:nvSpPr>
        <p:spPr>
          <a:xfrm>
            <a:off x="4663440" y="2926080"/>
            <a:ext cx="3931920" cy="1188720"/>
          </a:xfrm>
          <a:prstGeom prst="rect">
            <a:avLst/>
          </a:prstGeom>
          <a:solidFill>
            <a:srgbClr val="1E293B"/>
          </a:solidFill>
          <a:ln/>
          <a:effectLst>
            <a:outerShdw sx="100000" sy="100000" kx="0" ky="0" algn="bl" rotWithShape="0" blurRad="50800" dist="25400" dir="2700000">
              <a:srgbClr val="000000">
                <a:alpha val="15000"/>
              </a:srgbClr>
            </a:outerShdw>
          </a:effectLst>
        </p:spPr>
      </p:sp>
      <p:sp>
        <p:nvSpPr>
          <p:cNvPr id="17" name="Shape 15"/>
          <p:cNvSpPr/>
          <p:nvPr/>
        </p:nvSpPr>
        <p:spPr>
          <a:xfrm>
            <a:off x="4663440" y="2926080"/>
            <a:ext cx="54864" cy="1188720"/>
          </a:xfrm>
          <a:prstGeom prst="rect">
            <a:avLst/>
          </a:prstGeom>
          <a:solidFill>
            <a:srgbClr val="0D9488"/>
          </a:solidFill>
          <a:ln/>
        </p:spPr>
      </p:sp>
      <p:sp>
        <p:nvSpPr>
          <p:cNvPr id="18" name="Text 16"/>
          <p:cNvSpPr/>
          <p:nvPr/>
        </p:nvSpPr>
        <p:spPr>
          <a:xfrm>
            <a:off x="4937760" y="3063240"/>
            <a:ext cx="3474720" cy="457200"/>
          </a:xfrm>
          <a:prstGeom prst="rect">
            <a:avLst/>
          </a:prstGeom>
          <a:noFill/>
          <a:ln/>
        </p:spPr>
        <p:txBody>
          <a:bodyPr wrap="square" rtlCol="0" anchor="ctr"/>
          <a:lstStyle/>
          <a:p>
            <a:pPr indent="0" marL="0">
              <a:buNone/>
            </a:pPr>
            <a:r>
              <a:rPr lang="en-US" sz="2400" b="1" dirty="0">
                <a:solidFill>
                  <a:srgbClr val="D97706"/>
                </a:solidFill>
                <a:latin typeface="Calibri" pitchFamily="34" charset="0"/>
                <a:ea typeface="Calibri" pitchFamily="34" charset="-122"/>
                <a:cs typeface="Calibri" pitchFamily="34" charset="-120"/>
              </a:rPr>
              <a:t>Pre-Seed / Seed</a:t>
            </a:r>
            <a:endParaRPr lang="en-US" sz="2400" dirty="0"/>
          </a:p>
        </p:txBody>
      </p:sp>
      <p:sp>
        <p:nvSpPr>
          <p:cNvPr id="19" name="Text 17"/>
          <p:cNvSpPr/>
          <p:nvPr/>
        </p:nvSpPr>
        <p:spPr>
          <a:xfrm>
            <a:off x="4937760" y="3566160"/>
            <a:ext cx="3474720" cy="365760"/>
          </a:xfrm>
          <a:prstGeom prst="rect">
            <a:avLst/>
          </a:prstGeom>
          <a:noFill/>
          <a:ln/>
        </p:spPr>
        <p:txBody>
          <a:bodyPr wrap="square" rtlCol="0" anchor="ctr"/>
          <a:lstStyle/>
          <a:p>
            <a:pPr indent="0" marL="0">
              <a:buNone/>
            </a:pPr>
            <a:r>
              <a:rPr lang="en-US" sz="1200" b="1" dirty="0">
                <a:solidFill>
                  <a:srgbClr val="F8FAFC"/>
                </a:solidFill>
                <a:latin typeface="Calibri" pitchFamily="34" charset="0"/>
                <a:ea typeface="Calibri" pitchFamily="34" charset="-122"/>
                <a:cs typeface="Calibri" pitchFamily="34" charset="-120"/>
              </a:rPr>
              <a:t>Concentrated Target Entry Points (Valuation Discipline)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GENERAL PARTNERS: CROSS-BORDER EXECUTION</a:t>
            </a:r>
            <a:endParaRPr lang="en-US" sz="2400" dirty="0"/>
          </a:p>
        </p:txBody>
      </p:sp>
      <p:sp>
        <p:nvSpPr>
          <p:cNvPr id="3" name="Shape 1"/>
          <p:cNvSpPr/>
          <p:nvPr/>
        </p:nvSpPr>
        <p:spPr>
          <a:xfrm>
            <a:off x="457200" y="822960"/>
            <a:ext cx="1371600" cy="36576"/>
          </a:xfrm>
          <a:prstGeom prst="rect">
            <a:avLst/>
          </a:prstGeom>
          <a:solidFill>
            <a:srgbClr val="D97706"/>
          </a:solidFill>
          <a:ln/>
        </p:spPr>
      </p:sp>
      <p:sp>
        <p:nvSpPr>
          <p:cNvPr id="4" name="Shape 2"/>
          <p:cNvSpPr/>
          <p:nvPr/>
        </p:nvSpPr>
        <p:spPr>
          <a:xfrm>
            <a:off x="457200" y="1463040"/>
            <a:ext cx="3931920" cy="2926080"/>
          </a:xfrm>
          <a:prstGeom prst="rect">
            <a:avLst/>
          </a:prstGeom>
          <a:solidFill>
            <a:srgbClr val="1E293B"/>
          </a:solidFill>
          <a:ln/>
          <a:effectLst>
            <a:outerShdw sx="100000" sy="100000" kx="0" ky="0" algn="bl" rotWithShape="0" blurRad="50800" dist="25400" dir="2700000">
              <a:srgbClr val="000000">
                <a:alpha val="15000"/>
              </a:srgbClr>
            </a:outerShdw>
          </a:effectLst>
        </p:spPr>
      </p:sp>
      <p:sp>
        <p:nvSpPr>
          <p:cNvPr id="5" name="Shape 3"/>
          <p:cNvSpPr/>
          <p:nvPr/>
        </p:nvSpPr>
        <p:spPr>
          <a:xfrm>
            <a:off x="457200" y="1463040"/>
            <a:ext cx="3931920" cy="54864"/>
          </a:xfrm>
          <a:prstGeom prst="rect">
            <a:avLst/>
          </a:prstGeom>
          <a:solidFill>
            <a:srgbClr val="0D9488"/>
          </a:solidFill>
          <a:ln/>
        </p:spPr>
      </p:sp>
      <p:sp>
        <p:nvSpPr>
          <p:cNvPr id="6" name="Text 4"/>
          <p:cNvSpPr/>
          <p:nvPr/>
        </p:nvSpPr>
        <p:spPr>
          <a:xfrm>
            <a:off x="731520" y="1737360"/>
            <a:ext cx="3383280" cy="27432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Sajid Rahman</a:t>
            </a:r>
            <a:endParaRPr lang="en-US" sz="1800" dirty="0"/>
          </a:p>
        </p:txBody>
      </p:sp>
      <p:sp>
        <p:nvSpPr>
          <p:cNvPr id="7" name="Text 5"/>
          <p:cNvSpPr/>
          <p:nvPr/>
        </p:nvSpPr>
        <p:spPr>
          <a:xfrm>
            <a:off x="731520" y="2011680"/>
            <a:ext cx="3383280" cy="228600"/>
          </a:xfrm>
          <a:prstGeom prst="rect">
            <a:avLst/>
          </a:prstGeom>
          <a:noFill/>
          <a:ln/>
        </p:spPr>
        <p:txBody>
          <a:bodyPr wrap="square" rtlCol="0" anchor="ctr"/>
          <a:lstStyle/>
          <a:p>
            <a:pPr indent="0" marL="0">
              <a:buNone/>
            </a:pPr>
            <a:r>
              <a:rPr lang="en-US" sz="1200" b="1" dirty="0">
                <a:solidFill>
                  <a:srgbClr val="2DD4BF"/>
                </a:solidFill>
                <a:latin typeface="Calibri" pitchFamily="34" charset="0"/>
                <a:ea typeface="Calibri" pitchFamily="34" charset="-122"/>
                <a:cs typeface="Calibri" pitchFamily="34" charset="-120"/>
              </a:rPr>
              <a:t>General Partner</a:t>
            </a:r>
            <a:endParaRPr lang="en-US" sz="1200" dirty="0"/>
          </a:p>
        </p:txBody>
      </p:sp>
      <p:sp>
        <p:nvSpPr>
          <p:cNvPr id="8" name="Text 6"/>
          <p:cNvSpPr/>
          <p:nvPr/>
        </p:nvSpPr>
        <p:spPr>
          <a:xfrm>
            <a:off x="731520" y="2377440"/>
            <a:ext cx="3383280" cy="1737360"/>
          </a:xfrm>
          <a:prstGeom prst="rect">
            <a:avLst/>
          </a:prstGeom>
          <a:noFill/>
          <a:ln/>
        </p:spPr>
        <p:txBody>
          <a:bodyPr wrap="square" rtlCol="0" anchor="ctr"/>
          <a:lstStyle/>
          <a:p>
            <a:pPr indent="0" marL="0">
              <a:lnSpc>
                <a:spcPct val="130000"/>
              </a:lnSpc>
              <a:buNone/>
            </a:pPr>
            <a:r>
              <a:rPr lang="en-US" sz="1100" dirty="0">
                <a:solidFill>
                  <a:srgbClr val="F8FAFC"/>
                </a:solidFill>
                <a:latin typeface="Calibri" pitchFamily="34" charset="0"/>
                <a:ea typeface="Calibri" pitchFamily="34" charset="-122"/>
                <a:cs typeface="Calibri" pitchFamily="34" charset="-120"/>
              </a:rPr>
              <a:t>Decades of multi-stage cross-border deployment experience, global banking insight structures, institutional governance execution, and deep corporate allocation networks.</a:t>
            </a:r>
            <a:endParaRPr lang="en-US" sz="1100" dirty="0"/>
          </a:p>
        </p:txBody>
      </p:sp>
      <p:sp>
        <p:nvSpPr>
          <p:cNvPr id="9" name="Shape 7"/>
          <p:cNvSpPr/>
          <p:nvPr/>
        </p:nvSpPr>
        <p:spPr>
          <a:xfrm>
            <a:off x="4663440" y="1463040"/>
            <a:ext cx="3931920" cy="2926080"/>
          </a:xfrm>
          <a:prstGeom prst="rect">
            <a:avLst/>
          </a:prstGeom>
          <a:solidFill>
            <a:srgbClr val="1E293B"/>
          </a:solidFill>
          <a:ln/>
          <a:effectLst>
            <a:outerShdw sx="100000" sy="100000" kx="0" ky="0" algn="bl" rotWithShape="0" blurRad="50800" dist="25400" dir="2700000">
              <a:srgbClr val="000000">
                <a:alpha val="15000"/>
              </a:srgbClr>
            </a:outerShdw>
          </a:effectLst>
        </p:spPr>
      </p:sp>
      <p:sp>
        <p:nvSpPr>
          <p:cNvPr id="10" name="Shape 8"/>
          <p:cNvSpPr/>
          <p:nvPr/>
        </p:nvSpPr>
        <p:spPr>
          <a:xfrm>
            <a:off x="4663440" y="1463040"/>
            <a:ext cx="3931920" cy="54864"/>
          </a:xfrm>
          <a:prstGeom prst="rect">
            <a:avLst/>
          </a:prstGeom>
          <a:solidFill>
            <a:srgbClr val="0D9488"/>
          </a:solidFill>
          <a:ln/>
        </p:spPr>
      </p:sp>
      <p:sp>
        <p:nvSpPr>
          <p:cNvPr id="11" name="Text 9"/>
          <p:cNvSpPr/>
          <p:nvPr/>
        </p:nvSpPr>
        <p:spPr>
          <a:xfrm>
            <a:off x="4937760" y="1737360"/>
            <a:ext cx="3383280" cy="27432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Aabhas Khanna</a:t>
            </a:r>
            <a:endParaRPr lang="en-US" sz="1800" dirty="0"/>
          </a:p>
        </p:txBody>
      </p:sp>
      <p:sp>
        <p:nvSpPr>
          <p:cNvPr id="12" name="Text 10"/>
          <p:cNvSpPr/>
          <p:nvPr/>
        </p:nvSpPr>
        <p:spPr>
          <a:xfrm>
            <a:off x="4937760" y="2011680"/>
            <a:ext cx="3383280" cy="228600"/>
          </a:xfrm>
          <a:prstGeom prst="rect">
            <a:avLst/>
          </a:prstGeom>
          <a:noFill/>
          <a:ln/>
        </p:spPr>
        <p:txBody>
          <a:bodyPr wrap="square" rtlCol="0" anchor="ctr"/>
          <a:lstStyle/>
          <a:p>
            <a:pPr indent="0" marL="0">
              <a:buNone/>
            </a:pPr>
            <a:r>
              <a:rPr lang="en-US" sz="1200" b="1" dirty="0">
                <a:solidFill>
                  <a:srgbClr val="2DD4BF"/>
                </a:solidFill>
                <a:latin typeface="Calibri" pitchFamily="34" charset="0"/>
                <a:ea typeface="Calibri" pitchFamily="34" charset="-122"/>
                <a:cs typeface="Calibri" pitchFamily="34" charset="-120"/>
              </a:rPr>
              <a:t>General Partner</a:t>
            </a:r>
            <a:endParaRPr lang="en-US" sz="1200" dirty="0"/>
          </a:p>
        </p:txBody>
      </p:sp>
      <p:sp>
        <p:nvSpPr>
          <p:cNvPr id="13" name="Text 11"/>
          <p:cNvSpPr/>
          <p:nvPr/>
        </p:nvSpPr>
        <p:spPr>
          <a:xfrm>
            <a:off x="4937760" y="2377440"/>
            <a:ext cx="3383280" cy="1737360"/>
          </a:xfrm>
          <a:prstGeom prst="rect">
            <a:avLst/>
          </a:prstGeom>
          <a:noFill/>
          <a:ln/>
        </p:spPr>
        <p:txBody>
          <a:bodyPr wrap="square" rtlCol="0" anchor="ctr"/>
          <a:lstStyle/>
          <a:p>
            <a:pPr indent="0" marL="0">
              <a:lnSpc>
                <a:spcPct val="130000"/>
              </a:lnSpc>
              <a:buNone/>
            </a:pPr>
            <a:r>
              <a:rPr lang="en-US" sz="1100" dirty="0">
                <a:solidFill>
                  <a:srgbClr val="F8FAFC"/>
                </a:solidFill>
                <a:latin typeface="Calibri" pitchFamily="34" charset="0"/>
                <a:ea typeface="Calibri" pitchFamily="34" charset="-122"/>
                <a:cs typeface="Calibri" pitchFamily="34" charset="-120"/>
              </a:rPr>
              <a:t>Extensive history tracking deep-tech systems engineering infrastructure, regional go-to-market orchestration, and technology-native pipeline design.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D97706"/>
          </a:solidFill>
          <a:ln/>
        </p:spPr>
      </p:sp>
      <p:sp>
        <p:nvSpPr>
          <p:cNvPr id="3" name="Text 1"/>
          <p:cNvSpPr/>
          <p:nvPr/>
        </p:nvSpPr>
        <p:spPr>
          <a:xfrm>
            <a:off x="365760" y="640080"/>
            <a:ext cx="8412480" cy="100584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CONTRA VC: OPERATING LEVERAGE UNLOCKED</a:t>
            </a:r>
            <a:endParaRPr lang="en-US" sz="4000" dirty="0"/>
          </a:p>
        </p:txBody>
      </p:sp>
      <p:sp>
        <p:nvSpPr>
          <p:cNvPr id="4" name="Text 2"/>
          <p:cNvSpPr/>
          <p:nvPr/>
        </p:nvSpPr>
        <p:spPr>
          <a:xfrm>
            <a:off x="365760" y="1691640"/>
            <a:ext cx="8046720" cy="1005840"/>
          </a:xfrm>
          <a:prstGeom prst="rect">
            <a:avLst/>
          </a:prstGeom>
          <a:noFill/>
          <a:ln/>
        </p:spPr>
        <p:txBody>
          <a:bodyPr wrap="square" rtlCol="0" anchor="ctr"/>
          <a:lstStyle/>
          <a:p>
            <a:pPr indent="0" marL="0">
              <a:lnSpc>
                <a:spcPct val="140000"/>
              </a:lnSpc>
              <a:buNone/>
            </a:pPr>
            <a:r>
              <a:rPr lang="en-US" sz="1500" dirty="0">
                <a:solidFill>
                  <a:srgbClr val="F8FAFC"/>
                </a:solidFill>
                <a:latin typeface="Calibri" pitchFamily="34" charset="0"/>
                <a:ea typeface="Calibri" pitchFamily="34" charset="-122"/>
                <a:cs typeface="Calibri" pitchFamily="34" charset="-120"/>
              </a:rPr>
              <a:t>We remain hyper-efficient by design because we possess the execution leverage of an institutional machine. Partnering with Contra VC provides corporate allocators with an insulated, highly disciplined window into emerging technological frontiers without fundraising theater.</a:t>
            </a:r>
            <a:endParaRPr lang="en-US" sz="1500" dirty="0"/>
          </a:p>
        </p:txBody>
      </p:sp>
      <p:sp>
        <p:nvSpPr>
          <p:cNvPr id="5" name="Shape 3"/>
          <p:cNvSpPr/>
          <p:nvPr/>
        </p:nvSpPr>
        <p:spPr>
          <a:xfrm>
            <a:off x="365760" y="2926080"/>
            <a:ext cx="3840480" cy="1005840"/>
          </a:xfrm>
          <a:prstGeom prst="rect">
            <a:avLst/>
          </a:prstGeom>
          <a:solidFill>
            <a:srgbClr val="1E293B"/>
          </a:solidFill>
          <a:ln/>
          <a:effectLst>
            <a:outerShdw sx="100000" sy="100000" kx="0" ky="0" algn="bl" rotWithShape="0" blurRad="50800" dist="25400" dir="2700000">
              <a:srgbClr val="000000">
                <a:alpha val="15000"/>
              </a:srgbClr>
            </a:outerShdw>
          </a:effectLst>
        </p:spPr>
      </p:sp>
      <p:sp>
        <p:nvSpPr>
          <p:cNvPr id="6" name="Shape 4"/>
          <p:cNvSpPr/>
          <p:nvPr/>
        </p:nvSpPr>
        <p:spPr>
          <a:xfrm>
            <a:off x="365760" y="2926080"/>
            <a:ext cx="54864" cy="1005840"/>
          </a:xfrm>
          <a:prstGeom prst="rect">
            <a:avLst/>
          </a:prstGeom>
          <a:solidFill>
            <a:srgbClr val="0D9488"/>
          </a:solidFill>
          <a:ln/>
        </p:spPr>
      </p:sp>
      <p:sp>
        <p:nvSpPr>
          <p:cNvPr id="7" name="Text 5"/>
          <p:cNvSpPr/>
          <p:nvPr/>
        </p:nvSpPr>
        <p:spPr>
          <a:xfrm>
            <a:off x="548640" y="3063240"/>
            <a:ext cx="3474720" cy="27432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Sajid Rahman</a:t>
            </a:r>
            <a:endParaRPr lang="en-US" sz="1400" dirty="0"/>
          </a:p>
        </p:txBody>
      </p:sp>
      <p:sp>
        <p:nvSpPr>
          <p:cNvPr id="8" name="Text 6"/>
          <p:cNvSpPr/>
          <p:nvPr/>
        </p:nvSpPr>
        <p:spPr>
          <a:xfrm>
            <a:off x="548640" y="3383280"/>
            <a:ext cx="3474720" cy="274320"/>
          </a:xfrm>
          <a:prstGeom prst="rect">
            <a:avLst/>
          </a:prstGeom>
          <a:noFill/>
          <a:ln/>
        </p:spPr>
        <p:txBody>
          <a:bodyPr wrap="square" rtlCol="0" anchor="ctr"/>
          <a:lstStyle/>
          <a:p>
            <a:pPr indent="0" marL="0">
              <a:buNone/>
            </a:pPr>
            <a:r>
              <a:rPr lang="en-US" sz="1100" dirty="0">
                <a:solidFill>
                  <a:srgbClr val="2DD4BF"/>
                </a:solidFill>
                <a:latin typeface="Calibri" pitchFamily="34" charset="0"/>
                <a:ea typeface="Calibri" pitchFamily="34" charset="-122"/>
                <a:cs typeface="Calibri" pitchFamily="34" charset="-120"/>
              </a:rPr>
              <a:t>sajid@contravc.com</a:t>
            </a:r>
            <a:endParaRPr lang="en-US" sz="1100" dirty="0"/>
          </a:p>
        </p:txBody>
      </p:sp>
      <p:sp>
        <p:nvSpPr>
          <p:cNvPr id="9" name="Shape 7"/>
          <p:cNvSpPr/>
          <p:nvPr/>
        </p:nvSpPr>
        <p:spPr>
          <a:xfrm>
            <a:off x="4572000" y="2926080"/>
            <a:ext cx="3840480" cy="1005840"/>
          </a:xfrm>
          <a:prstGeom prst="rect">
            <a:avLst/>
          </a:prstGeom>
          <a:solidFill>
            <a:srgbClr val="1E293B"/>
          </a:solidFill>
          <a:ln/>
          <a:effectLst>
            <a:outerShdw sx="100000" sy="100000" kx="0" ky="0" algn="bl" rotWithShape="0" blurRad="50800" dist="25400" dir="2700000">
              <a:srgbClr val="000000">
                <a:alpha val="15000"/>
              </a:srgbClr>
            </a:outerShdw>
          </a:effectLst>
        </p:spPr>
      </p:sp>
      <p:sp>
        <p:nvSpPr>
          <p:cNvPr id="10" name="Shape 8"/>
          <p:cNvSpPr/>
          <p:nvPr/>
        </p:nvSpPr>
        <p:spPr>
          <a:xfrm>
            <a:off x="4572000" y="2926080"/>
            <a:ext cx="54864" cy="1005840"/>
          </a:xfrm>
          <a:prstGeom prst="rect">
            <a:avLst/>
          </a:prstGeom>
          <a:solidFill>
            <a:srgbClr val="0D9488"/>
          </a:solidFill>
          <a:ln/>
        </p:spPr>
      </p:sp>
      <p:sp>
        <p:nvSpPr>
          <p:cNvPr id="11" name="Text 9"/>
          <p:cNvSpPr/>
          <p:nvPr/>
        </p:nvSpPr>
        <p:spPr>
          <a:xfrm>
            <a:off x="4754880" y="3063240"/>
            <a:ext cx="3474720" cy="27432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Aabhas Khanna</a:t>
            </a:r>
            <a:endParaRPr lang="en-US" sz="1400" dirty="0"/>
          </a:p>
        </p:txBody>
      </p:sp>
      <p:sp>
        <p:nvSpPr>
          <p:cNvPr id="12" name="Text 10"/>
          <p:cNvSpPr/>
          <p:nvPr/>
        </p:nvSpPr>
        <p:spPr>
          <a:xfrm>
            <a:off x="4754880" y="3383280"/>
            <a:ext cx="3474720" cy="274320"/>
          </a:xfrm>
          <a:prstGeom prst="rect">
            <a:avLst/>
          </a:prstGeom>
          <a:noFill/>
          <a:ln/>
        </p:spPr>
        <p:txBody>
          <a:bodyPr wrap="square" rtlCol="0" anchor="ctr"/>
          <a:lstStyle/>
          <a:p>
            <a:pPr indent="0" marL="0">
              <a:buNone/>
            </a:pPr>
            <a:r>
              <a:rPr lang="en-US" sz="1100" dirty="0">
                <a:solidFill>
                  <a:srgbClr val="2DD4BF"/>
                </a:solidFill>
                <a:latin typeface="Calibri" pitchFamily="34" charset="0"/>
                <a:ea typeface="Calibri" pitchFamily="34" charset="-122"/>
                <a:cs typeface="Calibri" pitchFamily="34" charset="-120"/>
              </a:rPr>
              <a:t>aabhas@contravc.com</a:t>
            </a:r>
            <a:endParaRPr lang="en-US" sz="1100" dirty="0"/>
          </a:p>
        </p:txBody>
      </p:sp>
      <p:sp>
        <p:nvSpPr>
          <p:cNvPr id="13" name="Text 11"/>
          <p:cNvSpPr/>
          <p:nvPr/>
        </p:nvSpPr>
        <p:spPr>
          <a:xfrm>
            <a:off x="365760" y="4206240"/>
            <a:ext cx="8412480" cy="274320"/>
          </a:xfrm>
          <a:prstGeom prst="rect">
            <a:avLst/>
          </a:prstGeom>
          <a:noFill/>
          <a:ln/>
        </p:spPr>
        <p:txBody>
          <a:bodyPr wrap="square" rtlCol="0" anchor="ctr"/>
          <a:lstStyle/>
          <a:p>
            <a:pPr indent="0" marL="0">
              <a:buNone/>
            </a:pPr>
            <a:r>
              <a:rPr lang="en-US" sz="900" i="1" dirty="0">
                <a:solidFill>
                  <a:srgbClr val="94A3B8"/>
                </a:solidFill>
                <a:latin typeface="Calibri" pitchFamily="34" charset="0"/>
                <a:ea typeface="Calibri" pitchFamily="34" charset="-122"/>
                <a:cs typeface="Calibri" pitchFamily="34" charset="-120"/>
              </a:rPr>
              <a:t>Private Placement Memorandum (PPM), LPA, and Fund Financial Models available upon execution of NDA.</a:t>
            </a:r>
            <a:endParaRPr lang="en-US" sz="900" dirty="0"/>
          </a:p>
        </p:txBody>
      </p:sp>
      <p:sp>
        <p:nvSpPr>
          <p:cNvPr id="14" name="Text 12"/>
          <p:cNvSpPr/>
          <p:nvPr/>
        </p:nvSpPr>
        <p:spPr>
          <a:xfrm>
            <a:off x="365760" y="4526280"/>
            <a:ext cx="8412480" cy="274320"/>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This document does not constitute an offer to sell or a solicitation of an offer to buy securities in any jurisdiction.</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2026-06-04T14:58:19Z</dcterms:created>
  <dcterms:modified xsi:type="dcterms:W3CDTF">2026-06-04T14:58:19Z</dcterms:modified>
</cp:coreProperties>
</file>